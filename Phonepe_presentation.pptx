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sldIdLst>
    <p:sldId id="262" r:id="rId2"/>
    <p:sldId id="266" r:id="rId3"/>
    <p:sldId id="265" r:id="rId4"/>
    <p:sldId id="267" r:id="rId5"/>
    <p:sldId id="268" r:id="rId6"/>
    <p:sldId id="258" r:id="rId7"/>
    <p:sldId id="263" r:id="rId8"/>
    <p:sldId id="259" r:id="rId9"/>
    <p:sldId id="269" r:id="rId10"/>
    <p:sldId id="270" r:id="rId11"/>
    <p:sldId id="271" r:id="rId12"/>
    <p:sldId id="260" r:id="rId13"/>
    <p:sldId id="26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280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81A9A-EF0B-7BFC-E47C-B2B23C368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415A2-D8D7-D3F0-0E9B-AC17E0A74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F3FC1-EF51-4126-911F-59C57878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16D6F-0788-1326-32FD-C862F0EB4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5FE61-2EF5-F5F7-3182-B80E2AEAE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77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4257-F9B8-EA98-6DAA-B8AC34FBC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4AF39-404D-F999-9463-B8FEB82E8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179C7-00C6-DACB-EA05-A890D9DB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70534-F55F-376C-0859-9CDFDC266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9B0D9-495E-F73F-50B2-D3325697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6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44319-7DD9-D2F4-0C4B-A1AD9B841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5C9D1-123B-9EC9-4EC4-0ADE3DE93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58F50-64C7-7A6A-10BB-8ED9B2FAA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F56A7-B28D-E8AA-BBA5-523C28412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83A73-9EB8-53BC-6C69-40A93BDF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5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9B01-238A-4E5D-E24B-A109AAD7A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7AA49-EB43-B96D-82B3-15EE0BB64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197D9-6777-946C-FE0F-78F6058CF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77868-75A0-7B96-4ECA-D920FA720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4F4C4-2C88-5F05-6565-6C1E24722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737A4-9E8A-1FD7-DABC-880470128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33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5F5D-21C6-19B7-911E-E01DC720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CD59-D8A5-6854-EC5C-D4CCFCFED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2F5D3-6BDA-C02A-C338-F7FFAF47D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B6F43-217C-CDD8-F788-BC02E0D4B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4148A7-E03D-0272-2AAF-7F8AC36905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E38E8-DC2D-4EB1-0650-04D12F5D8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8B261-675C-FEFD-8428-AE3D5C283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5FEDF-9753-D91F-5EDF-F3E825CE6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61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9563-83D6-04BE-63F2-D19167D8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6904D7-2EA9-F85D-AF18-8797F2490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55C58-FD93-8711-0AE1-E8C588BF4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C51DBD-C744-D7E1-27C0-09A2553CD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83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81364F-52DA-07BF-EC52-B2F2E3F71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9613AA-36ED-767D-F44C-686227737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BEB91-0CCB-FD90-4C72-FE433F04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23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1C601-B7E4-742C-80DC-A075B1CAC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190C6-C817-0E5F-9872-05E01119A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DEE56-A077-7993-92BB-381C18982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EBC3F-A547-263D-68DA-E674E73DF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2CBAA-5EFB-9724-2BE1-A1D2F81E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E6E62-D67D-0A9A-637A-C54CCEB1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9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C34BB-74A1-2F78-1571-20942128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77B983-2C81-002D-6D26-165E6C35EC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45970-B7E4-6709-A16E-1D32FFB5D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2ADBF-AB13-85B2-0A6E-32EFE56BF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76778-37D2-457D-461B-9E259ADC4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17EAD-6753-3BB3-E85C-B2F7A3773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68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717D0-9CE2-815F-475C-B92CE701E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B9946-4507-31D9-8EB1-F02BFA4D3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124AC-A340-DE7E-245C-4257BE0FC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4644A-44EF-4BCD-85E6-B53956E25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DD6E6-06F1-1BF4-6C03-38948DFEF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575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CD9D83-DD48-8D0A-132B-FFAC5CDC2D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37C22-8850-84E8-6A16-FCF0A8A13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1F956-0E57-D2D2-53DF-7CAC8879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091B5-E8B5-4A16-3BEF-FAA31188C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5980-82C6-5B90-3DCE-6940BD398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90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79FB6D-7EF4-2695-152A-E616B68D6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D3772-2098-27DF-D8C3-BDB71E835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37802-0622-D86F-EE55-A12883BBE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2FA12-863D-43EE-D6A6-82C73D571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DCAB8-AC18-121D-B09F-6311042A8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52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9431FE1-D415-CD67-F79E-2A3E9A7CB3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5065776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6B46923-7D65-27BD-233E-1B273791D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5504" y="1768571"/>
            <a:ext cx="3593592" cy="2081053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Pulse Data Visualization and Exploration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A98C670-7B89-7DA4-A3B1-DAA7593C4C6B}"/>
              </a:ext>
            </a:extLst>
          </p:cNvPr>
          <p:cNvSpPr txBox="1">
            <a:spLocks/>
          </p:cNvSpPr>
          <p:nvPr/>
        </p:nvSpPr>
        <p:spPr>
          <a:xfrm>
            <a:off x="5448300" y="6029058"/>
            <a:ext cx="3048000" cy="477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Presented by: </a:t>
            </a:r>
            <a:r>
              <a:rPr lang="en-IN" dirty="0" err="1"/>
              <a:t>Binjal</a:t>
            </a:r>
            <a:r>
              <a:rPr lang="en-IN" dirty="0"/>
              <a:t> Patel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27CBCC-56B0-27F3-0389-692AD8C93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258" y="0"/>
            <a:ext cx="1352741" cy="100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21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0736" y="1239617"/>
            <a:ext cx="7587108" cy="500458"/>
          </a:xfrm>
          <a:prstGeom prst="rect">
            <a:avLst/>
          </a:prstGeom>
        </p:spPr>
        <p:txBody>
          <a:bodyPr vert="horz" wrap="square" lIns="0" tIns="7938" rIns="0" bIns="0" rtlCol="0" anchor="ctr">
            <a:spAutoFit/>
          </a:bodyPr>
          <a:lstStyle/>
          <a:p>
            <a:pPr marL="7938">
              <a:lnSpc>
                <a:spcPct val="100000"/>
              </a:lnSpc>
              <a:spcBef>
                <a:spcPts val="63"/>
              </a:spcBef>
            </a:pPr>
            <a:r>
              <a:rPr sz="3200" spc="-1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-2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sz="3200" spc="-2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</a:t>
            </a:r>
            <a:r>
              <a:rPr sz="3200" spc="-1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Revolution</a:t>
            </a:r>
            <a:r>
              <a:rPr sz="3200" spc="-1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200" spc="-1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4152" y="2095501"/>
            <a:ext cx="3165508" cy="3179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114A1C-5AA6-10F3-150C-440D079EA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258" y="9144"/>
            <a:ext cx="1352741" cy="1000303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6E67259D-69EF-B6D9-39CE-7AF26125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736" y="1863403"/>
            <a:ext cx="468076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India has rapidly shifted from a cash-based economy to a leading digital payments market, with 10B+ monthly transactions.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key player in the Unified Payments Interface ecosystem, handling billions of transactions across multiple services.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plays a critical role in tracking trends, reducing failures, and improving customer experience.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57250"/>
            <a:ext cx="3529012" cy="51435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82721" y="1290327"/>
            <a:ext cx="4103450" cy="515045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938">
              <a:lnSpc>
                <a:spcPct val="100000"/>
              </a:lnSpc>
              <a:spcBef>
                <a:spcPts val="56"/>
              </a:spcBef>
            </a:pPr>
            <a:r>
              <a:rPr spc="-172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pc="-2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864371" y="1979052"/>
            <a:ext cx="2330846" cy="2858766"/>
            <a:chOff x="6246114" y="2359914"/>
            <a:chExt cx="3729354" cy="2952115"/>
          </a:xfrm>
        </p:grpSpPr>
        <p:sp>
          <p:nvSpPr>
            <p:cNvPr id="7" name="object 7"/>
            <p:cNvSpPr/>
            <p:nvPr/>
          </p:nvSpPr>
          <p:spPr>
            <a:xfrm>
              <a:off x="6249924" y="2363724"/>
              <a:ext cx="3721735" cy="2944495"/>
            </a:xfrm>
            <a:custGeom>
              <a:avLst/>
              <a:gdLst/>
              <a:ahLst/>
              <a:cxnLst/>
              <a:rect l="l" t="t" r="r" b="b"/>
              <a:pathLst>
                <a:path w="3721734" h="2944495">
                  <a:moveTo>
                    <a:pt x="3437128" y="0"/>
                  </a:moveTo>
                  <a:lnTo>
                    <a:pt x="284479" y="0"/>
                  </a:lnTo>
                  <a:lnTo>
                    <a:pt x="238339" y="3723"/>
                  </a:lnTo>
                  <a:lnTo>
                    <a:pt x="194568" y="14504"/>
                  </a:lnTo>
                  <a:lnTo>
                    <a:pt x="153751" y="31755"/>
                  </a:lnTo>
                  <a:lnTo>
                    <a:pt x="116476" y="54892"/>
                  </a:lnTo>
                  <a:lnTo>
                    <a:pt x="83327" y="83327"/>
                  </a:lnTo>
                  <a:lnTo>
                    <a:pt x="54892" y="116476"/>
                  </a:lnTo>
                  <a:lnTo>
                    <a:pt x="31755" y="153751"/>
                  </a:lnTo>
                  <a:lnTo>
                    <a:pt x="14504" y="194568"/>
                  </a:lnTo>
                  <a:lnTo>
                    <a:pt x="3723" y="238339"/>
                  </a:lnTo>
                  <a:lnTo>
                    <a:pt x="0" y="284479"/>
                  </a:lnTo>
                  <a:lnTo>
                    <a:pt x="0" y="2659888"/>
                  </a:lnTo>
                  <a:lnTo>
                    <a:pt x="3723" y="2706028"/>
                  </a:lnTo>
                  <a:lnTo>
                    <a:pt x="14504" y="2749799"/>
                  </a:lnTo>
                  <a:lnTo>
                    <a:pt x="31755" y="2790616"/>
                  </a:lnTo>
                  <a:lnTo>
                    <a:pt x="54892" y="2827891"/>
                  </a:lnTo>
                  <a:lnTo>
                    <a:pt x="83327" y="2861040"/>
                  </a:lnTo>
                  <a:lnTo>
                    <a:pt x="116476" y="2889475"/>
                  </a:lnTo>
                  <a:lnTo>
                    <a:pt x="153751" y="2912612"/>
                  </a:lnTo>
                  <a:lnTo>
                    <a:pt x="194568" y="2929863"/>
                  </a:lnTo>
                  <a:lnTo>
                    <a:pt x="238339" y="2940644"/>
                  </a:lnTo>
                  <a:lnTo>
                    <a:pt x="284479" y="2944368"/>
                  </a:lnTo>
                  <a:lnTo>
                    <a:pt x="3437128" y="2944368"/>
                  </a:lnTo>
                  <a:lnTo>
                    <a:pt x="3483268" y="2940644"/>
                  </a:lnTo>
                  <a:lnTo>
                    <a:pt x="3527039" y="2929863"/>
                  </a:lnTo>
                  <a:lnTo>
                    <a:pt x="3567856" y="2912612"/>
                  </a:lnTo>
                  <a:lnTo>
                    <a:pt x="3605131" y="2889475"/>
                  </a:lnTo>
                  <a:lnTo>
                    <a:pt x="3638280" y="2861040"/>
                  </a:lnTo>
                  <a:lnTo>
                    <a:pt x="3666715" y="2827891"/>
                  </a:lnTo>
                  <a:lnTo>
                    <a:pt x="3689852" y="2790616"/>
                  </a:lnTo>
                  <a:lnTo>
                    <a:pt x="3707103" y="2749799"/>
                  </a:lnTo>
                  <a:lnTo>
                    <a:pt x="3717884" y="2706028"/>
                  </a:lnTo>
                  <a:lnTo>
                    <a:pt x="3721607" y="2659888"/>
                  </a:lnTo>
                  <a:lnTo>
                    <a:pt x="3721607" y="284479"/>
                  </a:lnTo>
                  <a:lnTo>
                    <a:pt x="3717884" y="238339"/>
                  </a:lnTo>
                  <a:lnTo>
                    <a:pt x="3707103" y="194568"/>
                  </a:lnTo>
                  <a:lnTo>
                    <a:pt x="3689852" y="153751"/>
                  </a:lnTo>
                  <a:lnTo>
                    <a:pt x="3666715" y="116476"/>
                  </a:lnTo>
                  <a:lnTo>
                    <a:pt x="3638280" y="83327"/>
                  </a:lnTo>
                  <a:lnTo>
                    <a:pt x="3605131" y="54892"/>
                  </a:lnTo>
                  <a:lnTo>
                    <a:pt x="3567856" y="31755"/>
                  </a:lnTo>
                  <a:lnTo>
                    <a:pt x="3527039" y="14504"/>
                  </a:lnTo>
                  <a:lnTo>
                    <a:pt x="3483268" y="3723"/>
                  </a:lnTo>
                  <a:lnTo>
                    <a:pt x="3437128" y="0"/>
                  </a:lnTo>
                  <a:close/>
                </a:path>
              </a:pathLst>
            </a:custGeom>
            <a:solidFill>
              <a:srgbClr val="D3E9F7"/>
            </a:solidFill>
          </p:spPr>
          <p:txBody>
            <a:bodyPr wrap="square" lIns="0" tIns="0" rIns="0" bIns="0" rtlCol="0"/>
            <a:lstStyle/>
            <a:p>
              <a:endParaRPr sz="1200">
                <a:highlight>
                  <a:srgbClr val="800080"/>
                </a:highlight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6249924" y="2363724"/>
              <a:ext cx="3721735" cy="2944495"/>
            </a:xfrm>
            <a:custGeom>
              <a:avLst/>
              <a:gdLst/>
              <a:ahLst/>
              <a:cxnLst/>
              <a:rect l="l" t="t" r="r" b="b"/>
              <a:pathLst>
                <a:path w="3721734" h="2944495">
                  <a:moveTo>
                    <a:pt x="0" y="284479"/>
                  </a:moveTo>
                  <a:lnTo>
                    <a:pt x="3723" y="238339"/>
                  </a:lnTo>
                  <a:lnTo>
                    <a:pt x="14504" y="194568"/>
                  </a:lnTo>
                  <a:lnTo>
                    <a:pt x="31755" y="153751"/>
                  </a:lnTo>
                  <a:lnTo>
                    <a:pt x="54892" y="116476"/>
                  </a:lnTo>
                  <a:lnTo>
                    <a:pt x="83327" y="83327"/>
                  </a:lnTo>
                  <a:lnTo>
                    <a:pt x="116476" y="54892"/>
                  </a:lnTo>
                  <a:lnTo>
                    <a:pt x="153751" y="31755"/>
                  </a:lnTo>
                  <a:lnTo>
                    <a:pt x="194568" y="14504"/>
                  </a:lnTo>
                  <a:lnTo>
                    <a:pt x="238339" y="3723"/>
                  </a:lnTo>
                  <a:lnTo>
                    <a:pt x="284479" y="0"/>
                  </a:lnTo>
                  <a:lnTo>
                    <a:pt x="3437128" y="0"/>
                  </a:lnTo>
                  <a:lnTo>
                    <a:pt x="3483268" y="3723"/>
                  </a:lnTo>
                  <a:lnTo>
                    <a:pt x="3527039" y="14504"/>
                  </a:lnTo>
                  <a:lnTo>
                    <a:pt x="3567856" y="31755"/>
                  </a:lnTo>
                  <a:lnTo>
                    <a:pt x="3605131" y="54892"/>
                  </a:lnTo>
                  <a:lnTo>
                    <a:pt x="3638280" y="83327"/>
                  </a:lnTo>
                  <a:lnTo>
                    <a:pt x="3666715" y="116476"/>
                  </a:lnTo>
                  <a:lnTo>
                    <a:pt x="3689852" y="153751"/>
                  </a:lnTo>
                  <a:lnTo>
                    <a:pt x="3707103" y="194568"/>
                  </a:lnTo>
                  <a:lnTo>
                    <a:pt x="3717884" y="238339"/>
                  </a:lnTo>
                  <a:lnTo>
                    <a:pt x="3721607" y="284479"/>
                  </a:lnTo>
                  <a:lnTo>
                    <a:pt x="3721607" y="2659888"/>
                  </a:lnTo>
                  <a:lnTo>
                    <a:pt x="3717884" y="2706028"/>
                  </a:lnTo>
                  <a:lnTo>
                    <a:pt x="3707103" y="2749799"/>
                  </a:lnTo>
                  <a:lnTo>
                    <a:pt x="3689852" y="2790616"/>
                  </a:lnTo>
                  <a:lnTo>
                    <a:pt x="3666715" y="2827891"/>
                  </a:lnTo>
                  <a:lnTo>
                    <a:pt x="3638280" y="2861040"/>
                  </a:lnTo>
                  <a:lnTo>
                    <a:pt x="3605131" y="2889475"/>
                  </a:lnTo>
                  <a:lnTo>
                    <a:pt x="3567856" y="2912612"/>
                  </a:lnTo>
                  <a:lnTo>
                    <a:pt x="3527039" y="2929863"/>
                  </a:lnTo>
                  <a:lnTo>
                    <a:pt x="3483268" y="2940644"/>
                  </a:lnTo>
                  <a:lnTo>
                    <a:pt x="3437128" y="2944368"/>
                  </a:lnTo>
                  <a:lnTo>
                    <a:pt x="284479" y="2944368"/>
                  </a:lnTo>
                  <a:lnTo>
                    <a:pt x="238339" y="2940644"/>
                  </a:lnTo>
                  <a:lnTo>
                    <a:pt x="194568" y="2929863"/>
                  </a:lnTo>
                  <a:lnTo>
                    <a:pt x="153751" y="2912612"/>
                  </a:lnTo>
                  <a:lnTo>
                    <a:pt x="116476" y="2889475"/>
                  </a:lnTo>
                  <a:lnTo>
                    <a:pt x="83327" y="2861040"/>
                  </a:lnTo>
                  <a:lnTo>
                    <a:pt x="54892" y="2827891"/>
                  </a:lnTo>
                  <a:lnTo>
                    <a:pt x="31755" y="2790616"/>
                  </a:lnTo>
                  <a:lnTo>
                    <a:pt x="14504" y="2749799"/>
                  </a:lnTo>
                  <a:lnTo>
                    <a:pt x="3723" y="2706028"/>
                  </a:lnTo>
                  <a:lnTo>
                    <a:pt x="0" y="2659888"/>
                  </a:lnTo>
                  <a:lnTo>
                    <a:pt x="0" y="284479"/>
                  </a:lnTo>
                  <a:close/>
                </a:path>
              </a:pathLst>
            </a:custGeom>
            <a:ln w="7620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highlight>
                  <a:srgbClr val="800080"/>
                </a:highlight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020740" y="2086252"/>
            <a:ext cx="2013347" cy="2633590"/>
          </a:xfrm>
          <a:prstGeom prst="rect">
            <a:avLst/>
          </a:prstGeom>
        </p:spPr>
        <p:txBody>
          <a:bodyPr vert="horz" wrap="square" lIns="0" tIns="7541" rIns="0" bIns="0" rtlCol="0">
            <a:spAutoFit/>
          </a:bodyPr>
          <a:lstStyle/>
          <a:p>
            <a:pPr marL="7938">
              <a:spcBef>
                <a:spcPts val="59"/>
              </a:spcBef>
            </a:pPr>
            <a:r>
              <a:rPr sz="1400" b="1" spc="-10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400" b="1" spc="-78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97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  <a:r>
              <a:rPr sz="1400" b="1" spc="-10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 marR="3175">
              <a:lnSpc>
                <a:spcPct val="138100"/>
              </a:lnSpc>
              <a:spcBef>
                <a:spcPts val="488"/>
              </a:spcBef>
            </a:pPr>
            <a:r>
              <a:rPr sz="1400" spc="44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sz="1400" spc="-6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sz="1400" spc="-47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millions</a:t>
            </a:r>
            <a:r>
              <a:rPr sz="1400" spc="-44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sz="1400" spc="-5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</a:t>
            </a:r>
            <a:r>
              <a:rPr sz="1400" spc="-5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sz="1400" spc="-5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</a:t>
            </a:r>
            <a:r>
              <a:rPr sz="1400" spc="-1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sz="1400" spc="-31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categories.</a:t>
            </a:r>
            <a:r>
              <a:rPr sz="1400" spc="-38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sz="1400" spc="1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-71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400" spc="-6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massive</a:t>
            </a:r>
            <a:r>
              <a:rPr sz="1400" spc="-34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sz="1400" spc="-34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impractical</a:t>
            </a:r>
            <a:r>
              <a:rPr sz="1400" spc="1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2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error-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prone,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</a:t>
            </a:r>
            <a:r>
              <a:rPr sz="1400" spc="-1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blind</a:t>
            </a:r>
            <a:r>
              <a:rPr sz="1400" spc="-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spots</a:t>
            </a:r>
            <a:r>
              <a:rPr sz="1400" spc="-1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10752" y="2003965"/>
            <a:ext cx="2457863" cy="2898426"/>
            <a:chOff x="10150602" y="2359914"/>
            <a:chExt cx="3729354" cy="2952115"/>
          </a:xfrm>
        </p:grpSpPr>
        <p:sp>
          <p:nvSpPr>
            <p:cNvPr id="11" name="object 11"/>
            <p:cNvSpPr/>
            <p:nvPr/>
          </p:nvSpPr>
          <p:spPr>
            <a:xfrm>
              <a:off x="10154412" y="2363724"/>
              <a:ext cx="3721735" cy="2944495"/>
            </a:xfrm>
            <a:custGeom>
              <a:avLst/>
              <a:gdLst/>
              <a:ahLst/>
              <a:cxnLst/>
              <a:rect l="l" t="t" r="r" b="b"/>
              <a:pathLst>
                <a:path w="3721734" h="2944495">
                  <a:moveTo>
                    <a:pt x="3437128" y="0"/>
                  </a:moveTo>
                  <a:lnTo>
                    <a:pt x="284480" y="0"/>
                  </a:lnTo>
                  <a:lnTo>
                    <a:pt x="238339" y="3723"/>
                  </a:lnTo>
                  <a:lnTo>
                    <a:pt x="194568" y="14504"/>
                  </a:lnTo>
                  <a:lnTo>
                    <a:pt x="153751" y="31755"/>
                  </a:lnTo>
                  <a:lnTo>
                    <a:pt x="116476" y="54892"/>
                  </a:lnTo>
                  <a:lnTo>
                    <a:pt x="83327" y="83327"/>
                  </a:lnTo>
                  <a:lnTo>
                    <a:pt x="54892" y="116476"/>
                  </a:lnTo>
                  <a:lnTo>
                    <a:pt x="31755" y="153751"/>
                  </a:lnTo>
                  <a:lnTo>
                    <a:pt x="14504" y="194568"/>
                  </a:lnTo>
                  <a:lnTo>
                    <a:pt x="3723" y="238339"/>
                  </a:lnTo>
                  <a:lnTo>
                    <a:pt x="0" y="284479"/>
                  </a:lnTo>
                  <a:lnTo>
                    <a:pt x="0" y="2659888"/>
                  </a:lnTo>
                  <a:lnTo>
                    <a:pt x="3723" y="2706028"/>
                  </a:lnTo>
                  <a:lnTo>
                    <a:pt x="14504" y="2749799"/>
                  </a:lnTo>
                  <a:lnTo>
                    <a:pt x="31755" y="2790616"/>
                  </a:lnTo>
                  <a:lnTo>
                    <a:pt x="54892" y="2827891"/>
                  </a:lnTo>
                  <a:lnTo>
                    <a:pt x="83327" y="2861040"/>
                  </a:lnTo>
                  <a:lnTo>
                    <a:pt x="116476" y="2889475"/>
                  </a:lnTo>
                  <a:lnTo>
                    <a:pt x="153751" y="2912612"/>
                  </a:lnTo>
                  <a:lnTo>
                    <a:pt x="194568" y="2929863"/>
                  </a:lnTo>
                  <a:lnTo>
                    <a:pt x="238339" y="2940644"/>
                  </a:lnTo>
                  <a:lnTo>
                    <a:pt x="284480" y="2944368"/>
                  </a:lnTo>
                  <a:lnTo>
                    <a:pt x="3437128" y="2944368"/>
                  </a:lnTo>
                  <a:lnTo>
                    <a:pt x="3483268" y="2940644"/>
                  </a:lnTo>
                  <a:lnTo>
                    <a:pt x="3527039" y="2929863"/>
                  </a:lnTo>
                  <a:lnTo>
                    <a:pt x="3567856" y="2912612"/>
                  </a:lnTo>
                  <a:lnTo>
                    <a:pt x="3605131" y="2889475"/>
                  </a:lnTo>
                  <a:lnTo>
                    <a:pt x="3638280" y="2861040"/>
                  </a:lnTo>
                  <a:lnTo>
                    <a:pt x="3666715" y="2827891"/>
                  </a:lnTo>
                  <a:lnTo>
                    <a:pt x="3689852" y="2790616"/>
                  </a:lnTo>
                  <a:lnTo>
                    <a:pt x="3707103" y="2749799"/>
                  </a:lnTo>
                  <a:lnTo>
                    <a:pt x="3717884" y="2706028"/>
                  </a:lnTo>
                  <a:lnTo>
                    <a:pt x="3721607" y="2659888"/>
                  </a:lnTo>
                  <a:lnTo>
                    <a:pt x="3721607" y="284479"/>
                  </a:lnTo>
                  <a:lnTo>
                    <a:pt x="3717884" y="238339"/>
                  </a:lnTo>
                  <a:lnTo>
                    <a:pt x="3707103" y="194568"/>
                  </a:lnTo>
                  <a:lnTo>
                    <a:pt x="3689852" y="153751"/>
                  </a:lnTo>
                  <a:lnTo>
                    <a:pt x="3666715" y="116476"/>
                  </a:lnTo>
                  <a:lnTo>
                    <a:pt x="3638280" y="83327"/>
                  </a:lnTo>
                  <a:lnTo>
                    <a:pt x="3605131" y="54892"/>
                  </a:lnTo>
                  <a:lnTo>
                    <a:pt x="3567856" y="31755"/>
                  </a:lnTo>
                  <a:lnTo>
                    <a:pt x="3527039" y="14504"/>
                  </a:lnTo>
                  <a:lnTo>
                    <a:pt x="3483268" y="3723"/>
                  </a:lnTo>
                  <a:lnTo>
                    <a:pt x="3437128" y="0"/>
                  </a:lnTo>
                  <a:close/>
                </a:path>
              </a:pathLst>
            </a:custGeom>
            <a:solidFill>
              <a:srgbClr val="D3E9F7"/>
            </a:solidFill>
          </p:spPr>
          <p:txBody>
            <a:bodyPr wrap="square" lIns="0" tIns="0" rIns="0" bIns="0" rtlCol="0"/>
            <a:lstStyle/>
            <a:p>
              <a:endParaRPr sz="1125"/>
            </a:p>
          </p:txBody>
        </p:sp>
        <p:sp>
          <p:nvSpPr>
            <p:cNvPr id="12" name="object 12"/>
            <p:cNvSpPr/>
            <p:nvPr/>
          </p:nvSpPr>
          <p:spPr>
            <a:xfrm>
              <a:off x="10154412" y="2363724"/>
              <a:ext cx="3721735" cy="2944495"/>
            </a:xfrm>
            <a:custGeom>
              <a:avLst/>
              <a:gdLst/>
              <a:ahLst/>
              <a:cxnLst/>
              <a:rect l="l" t="t" r="r" b="b"/>
              <a:pathLst>
                <a:path w="3721734" h="2944495">
                  <a:moveTo>
                    <a:pt x="0" y="284479"/>
                  </a:moveTo>
                  <a:lnTo>
                    <a:pt x="3723" y="238339"/>
                  </a:lnTo>
                  <a:lnTo>
                    <a:pt x="14504" y="194568"/>
                  </a:lnTo>
                  <a:lnTo>
                    <a:pt x="31755" y="153751"/>
                  </a:lnTo>
                  <a:lnTo>
                    <a:pt x="54892" y="116476"/>
                  </a:lnTo>
                  <a:lnTo>
                    <a:pt x="83327" y="83327"/>
                  </a:lnTo>
                  <a:lnTo>
                    <a:pt x="116476" y="54892"/>
                  </a:lnTo>
                  <a:lnTo>
                    <a:pt x="153751" y="31755"/>
                  </a:lnTo>
                  <a:lnTo>
                    <a:pt x="194568" y="14504"/>
                  </a:lnTo>
                  <a:lnTo>
                    <a:pt x="238339" y="3723"/>
                  </a:lnTo>
                  <a:lnTo>
                    <a:pt x="284480" y="0"/>
                  </a:lnTo>
                  <a:lnTo>
                    <a:pt x="3437128" y="0"/>
                  </a:lnTo>
                  <a:lnTo>
                    <a:pt x="3483268" y="3723"/>
                  </a:lnTo>
                  <a:lnTo>
                    <a:pt x="3527039" y="14504"/>
                  </a:lnTo>
                  <a:lnTo>
                    <a:pt x="3567856" y="31755"/>
                  </a:lnTo>
                  <a:lnTo>
                    <a:pt x="3605131" y="54892"/>
                  </a:lnTo>
                  <a:lnTo>
                    <a:pt x="3638280" y="83327"/>
                  </a:lnTo>
                  <a:lnTo>
                    <a:pt x="3666715" y="116476"/>
                  </a:lnTo>
                  <a:lnTo>
                    <a:pt x="3689852" y="153751"/>
                  </a:lnTo>
                  <a:lnTo>
                    <a:pt x="3707103" y="194568"/>
                  </a:lnTo>
                  <a:lnTo>
                    <a:pt x="3717884" y="238339"/>
                  </a:lnTo>
                  <a:lnTo>
                    <a:pt x="3721607" y="284479"/>
                  </a:lnTo>
                  <a:lnTo>
                    <a:pt x="3721607" y="2659888"/>
                  </a:lnTo>
                  <a:lnTo>
                    <a:pt x="3717884" y="2706028"/>
                  </a:lnTo>
                  <a:lnTo>
                    <a:pt x="3707103" y="2749799"/>
                  </a:lnTo>
                  <a:lnTo>
                    <a:pt x="3689852" y="2790616"/>
                  </a:lnTo>
                  <a:lnTo>
                    <a:pt x="3666715" y="2827891"/>
                  </a:lnTo>
                  <a:lnTo>
                    <a:pt x="3638280" y="2861040"/>
                  </a:lnTo>
                  <a:lnTo>
                    <a:pt x="3605131" y="2889475"/>
                  </a:lnTo>
                  <a:lnTo>
                    <a:pt x="3567856" y="2912612"/>
                  </a:lnTo>
                  <a:lnTo>
                    <a:pt x="3527039" y="2929863"/>
                  </a:lnTo>
                  <a:lnTo>
                    <a:pt x="3483268" y="2940644"/>
                  </a:lnTo>
                  <a:lnTo>
                    <a:pt x="3437128" y="2944368"/>
                  </a:lnTo>
                  <a:lnTo>
                    <a:pt x="284480" y="2944368"/>
                  </a:lnTo>
                  <a:lnTo>
                    <a:pt x="238339" y="2940644"/>
                  </a:lnTo>
                  <a:lnTo>
                    <a:pt x="194568" y="2929863"/>
                  </a:lnTo>
                  <a:lnTo>
                    <a:pt x="153751" y="2912612"/>
                  </a:lnTo>
                  <a:lnTo>
                    <a:pt x="116476" y="2889475"/>
                  </a:lnTo>
                  <a:lnTo>
                    <a:pt x="83327" y="2861040"/>
                  </a:lnTo>
                  <a:lnTo>
                    <a:pt x="54892" y="2827891"/>
                  </a:lnTo>
                  <a:lnTo>
                    <a:pt x="31755" y="2790616"/>
                  </a:lnTo>
                  <a:lnTo>
                    <a:pt x="14504" y="2749799"/>
                  </a:lnTo>
                  <a:lnTo>
                    <a:pt x="3723" y="2706028"/>
                  </a:lnTo>
                  <a:lnTo>
                    <a:pt x="0" y="2659888"/>
                  </a:lnTo>
                  <a:lnTo>
                    <a:pt x="0" y="284479"/>
                  </a:lnTo>
                  <a:close/>
                </a:path>
              </a:pathLst>
            </a:custGeom>
            <a:ln w="7620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 sz="1125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471143" y="2086252"/>
            <a:ext cx="2201528" cy="2336265"/>
          </a:xfrm>
          <a:prstGeom prst="rect">
            <a:avLst/>
          </a:prstGeom>
        </p:spPr>
        <p:txBody>
          <a:bodyPr vert="horz" wrap="square" lIns="0" tIns="7541" rIns="0" bIns="0" rtlCol="0">
            <a:spAutoFit/>
          </a:bodyPr>
          <a:lstStyle/>
          <a:p>
            <a:pPr marL="7938">
              <a:spcBef>
                <a:spcPts val="59"/>
              </a:spcBef>
            </a:pPr>
            <a:r>
              <a:rPr sz="1400" b="1" spc="-71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r>
              <a:rPr sz="1400" b="1" spc="-88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78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Failure</a:t>
            </a:r>
            <a:r>
              <a:rPr sz="1400" b="1" spc="-81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 marR="3175">
              <a:lnSpc>
                <a:spcPct val="138400"/>
              </a:lnSpc>
              <a:spcBef>
                <a:spcPts val="484"/>
              </a:spcBef>
            </a:pP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Failed</a:t>
            </a:r>
            <a:r>
              <a:rPr sz="1400" spc="-31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payments</a:t>
            </a:r>
            <a:r>
              <a:rPr sz="1400" spc="-38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directly</a:t>
            </a:r>
            <a:r>
              <a:rPr sz="1400" spc="-44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sz="1400" spc="-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34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sz="1400" spc="-1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satisfaction. </a:t>
            </a:r>
            <a:r>
              <a:rPr sz="1400" spc="28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1400" spc="-6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systematic</a:t>
            </a:r>
            <a:r>
              <a:rPr sz="1400" spc="-71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tracking,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</a:t>
            </a:r>
            <a:r>
              <a:rPr sz="1400" spc="-31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sz="1400" spc="-31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400" spc="-22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</a:t>
            </a:r>
            <a:r>
              <a:rPr sz="1400" spc="-1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failures</a:t>
            </a:r>
            <a:r>
              <a:rPr sz="1400" spc="-5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41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1400" spc="-1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sz="1400" spc="-6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remains</a:t>
            </a:r>
            <a:r>
              <a:rPr sz="1400" spc="-31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challenging.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04839" y="5100985"/>
            <a:ext cx="4961266" cy="1564334"/>
            <a:chOff x="6246114" y="5496305"/>
            <a:chExt cx="7633970" cy="1736089"/>
          </a:xfrm>
        </p:grpSpPr>
        <p:sp>
          <p:nvSpPr>
            <p:cNvPr id="15" name="object 15"/>
            <p:cNvSpPr/>
            <p:nvPr/>
          </p:nvSpPr>
          <p:spPr>
            <a:xfrm>
              <a:off x="6249924" y="5500115"/>
              <a:ext cx="7626350" cy="1728470"/>
            </a:xfrm>
            <a:custGeom>
              <a:avLst/>
              <a:gdLst/>
              <a:ahLst/>
              <a:cxnLst/>
              <a:rect l="l" t="t" r="r" b="b"/>
              <a:pathLst>
                <a:path w="7626350" h="1728470">
                  <a:moveTo>
                    <a:pt x="7341997" y="0"/>
                  </a:moveTo>
                  <a:lnTo>
                    <a:pt x="284099" y="0"/>
                  </a:lnTo>
                  <a:lnTo>
                    <a:pt x="238030" y="3719"/>
                  </a:lnTo>
                  <a:lnTo>
                    <a:pt x="194324" y="14489"/>
                  </a:lnTo>
                  <a:lnTo>
                    <a:pt x="153564" y="31721"/>
                  </a:lnTo>
                  <a:lnTo>
                    <a:pt x="116339" y="54831"/>
                  </a:lnTo>
                  <a:lnTo>
                    <a:pt x="83232" y="83232"/>
                  </a:lnTo>
                  <a:lnTo>
                    <a:pt x="54831" y="116339"/>
                  </a:lnTo>
                  <a:lnTo>
                    <a:pt x="31721" y="153564"/>
                  </a:lnTo>
                  <a:lnTo>
                    <a:pt x="14489" y="194324"/>
                  </a:lnTo>
                  <a:lnTo>
                    <a:pt x="3719" y="238030"/>
                  </a:lnTo>
                  <a:lnTo>
                    <a:pt x="0" y="284098"/>
                  </a:lnTo>
                  <a:lnTo>
                    <a:pt x="0" y="1444116"/>
                  </a:lnTo>
                  <a:lnTo>
                    <a:pt x="3719" y="1490194"/>
                  </a:lnTo>
                  <a:lnTo>
                    <a:pt x="14489" y="1533906"/>
                  </a:lnTo>
                  <a:lnTo>
                    <a:pt x="31721" y="1574667"/>
                  </a:lnTo>
                  <a:lnTo>
                    <a:pt x="54831" y="1611893"/>
                  </a:lnTo>
                  <a:lnTo>
                    <a:pt x="83232" y="1644997"/>
                  </a:lnTo>
                  <a:lnTo>
                    <a:pt x="116339" y="1673395"/>
                  </a:lnTo>
                  <a:lnTo>
                    <a:pt x="153564" y="1696501"/>
                  </a:lnTo>
                  <a:lnTo>
                    <a:pt x="194324" y="1713730"/>
                  </a:lnTo>
                  <a:lnTo>
                    <a:pt x="238030" y="1724497"/>
                  </a:lnTo>
                  <a:lnTo>
                    <a:pt x="284099" y="1728215"/>
                  </a:lnTo>
                  <a:lnTo>
                    <a:pt x="7341997" y="1728215"/>
                  </a:lnTo>
                  <a:lnTo>
                    <a:pt x="7388065" y="1724497"/>
                  </a:lnTo>
                  <a:lnTo>
                    <a:pt x="7431771" y="1713730"/>
                  </a:lnTo>
                  <a:lnTo>
                    <a:pt x="7472531" y="1696501"/>
                  </a:lnTo>
                  <a:lnTo>
                    <a:pt x="7509756" y="1673395"/>
                  </a:lnTo>
                  <a:lnTo>
                    <a:pt x="7542863" y="1644997"/>
                  </a:lnTo>
                  <a:lnTo>
                    <a:pt x="7571264" y="1611893"/>
                  </a:lnTo>
                  <a:lnTo>
                    <a:pt x="7594374" y="1574667"/>
                  </a:lnTo>
                  <a:lnTo>
                    <a:pt x="7611606" y="1533906"/>
                  </a:lnTo>
                  <a:lnTo>
                    <a:pt x="7622376" y="1490194"/>
                  </a:lnTo>
                  <a:lnTo>
                    <a:pt x="7626095" y="1444116"/>
                  </a:lnTo>
                  <a:lnTo>
                    <a:pt x="7626095" y="284098"/>
                  </a:lnTo>
                  <a:lnTo>
                    <a:pt x="7622376" y="238030"/>
                  </a:lnTo>
                  <a:lnTo>
                    <a:pt x="7611606" y="194324"/>
                  </a:lnTo>
                  <a:lnTo>
                    <a:pt x="7594374" y="153564"/>
                  </a:lnTo>
                  <a:lnTo>
                    <a:pt x="7571264" y="116339"/>
                  </a:lnTo>
                  <a:lnTo>
                    <a:pt x="7542863" y="83232"/>
                  </a:lnTo>
                  <a:lnTo>
                    <a:pt x="7509756" y="54831"/>
                  </a:lnTo>
                  <a:lnTo>
                    <a:pt x="7472531" y="31721"/>
                  </a:lnTo>
                  <a:lnTo>
                    <a:pt x="7431771" y="14489"/>
                  </a:lnTo>
                  <a:lnTo>
                    <a:pt x="7388065" y="3719"/>
                  </a:lnTo>
                  <a:lnTo>
                    <a:pt x="7341997" y="0"/>
                  </a:lnTo>
                  <a:close/>
                </a:path>
              </a:pathLst>
            </a:custGeom>
            <a:solidFill>
              <a:srgbClr val="D3E9F7"/>
            </a:solidFill>
          </p:spPr>
          <p:txBody>
            <a:bodyPr wrap="square" lIns="0" tIns="0" rIns="0" bIns="0" rtlCol="0"/>
            <a:lstStyle/>
            <a:p>
              <a:endParaRPr sz="1125"/>
            </a:p>
          </p:txBody>
        </p:sp>
        <p:sp>
          <p:nvSpPr>
            <p:cNvPr id="16" name="object 16"/>
            <p:cNvSpPr/>
            <p:nvPr/>
          </p:nvSpPr>
          <p:spPr>
            <a:xfrm>
              <a:off x="6249924" y="5500115"/>
              <a:ext cx="7626350" cy="1728470"/>
            </a:xfrm>
            <a:custGeom>
              <a:avLst/>
              <a:gdLst/>
              <a:ahLst/>
              <a:cxnLst/>
              <a:rect l="l" t="t" r="r" b="b"/>
              <a:pathLst>
                <a:path w="7626350" h="1728470">
                  <a:moveTo>
                    <a:pt x="0" y="284098"/>
                  </a:moveTo>
                  <a:lnTo>
                    <a:pt x="3719" y="238030"/>
                  </a:lnTo>
                  <a:lnTo>
                    <a:pt x="14489" y="194324"/>
                  </a:lnTo>
                  <a:lnTo>
                    <a:pt x="31721" y="153564"/>
                  </a:lnTo>
                  <a:lnTo>
                    <a:pt x="54831" y="116339"/>
                  </a:lnTo>
                  <a:lnTo>
                    <a:pt x="83232" y="83232"/>
                  </a:lnTo>
                  <a:lnTo>
                    <a:pt x="116339" y="54831"/>
                  </a:lnTo>
                  <a:lnTo>
                    <a:pt x="153564" y="31721"/>
                  </a:lnTo>
                  <a:lnTo>
                    <a:pt x="194324" y="14489"/>
                  </a:lnTo>
                  <a:lnTo>
                    <a:pt x="238030" y="3719"/>
                  </a:lnTo>
                  <a:lnTo>
                    <a:pt x="284099" y="0"/>
                  </a:lnTo>
                  <a:lnTo>
                    <a:pt x="7341997" y="0"/>
                  </a:lnTo>
                  <a:lnTo>
                    <a:pt x="7388065" y="3719"/>
                  </a:lnTo>
                  <a:lnTo>
                    <a:pt x="7431771" y="14489"/>
                  </a:lnTo>
                  <a:lnTo>
                    <a:pt x="7472531" y="31721"/>
                  </a:lnTo>
                  <a:lnTo>
                    <a:pt x="7509756" y="54831"/>
                  </a:lnTo>
                  <a:lnTo>
                    <a:pt x="7542863" y="83232"/>
                  </a:lnTo>
                  <a:lnTo>
                    <a:pt x="7571264" y="116339"/>
                  </a:lnTo>
                  <a:lnTo>
                    <a:pt x="7594374" y="153564"/>
                  </a:lnTo>
                  <a:lnTo>
                    <a:pt x="7611606" y="194324"/>
                  </a:lnTo>
                  <a:lnTo>
                    <a:pt x="7622376" y="238030"/>
                  </a:lnTo>
                  <a:lnTo>
                    <a:pt x="7626095" y="284098"/>
                  </a:lnTo>
                  <a:lnTo>
                    <a:pt x="7626095" y="1444116"/>
                  </a:lnTo>
                  <a:lnTo>
                    <a:pt x="7622376" y="1490194"/>
                  </a:lnTo>
                  <a:lnTo>
                    <a:pt x="7611606" y="1533906"/>
                  </a:lnTo>
                  <a:lnTo>
                    <a:pt x="7594374" y="1574667"/>
                  </a:lnTo>
                  <a:lnTo>
                    <a:pt x="7571264" y="1611893"/>
                  </a:lnTo>
                  <a:lnTo>
                    <a:pt x="7542863" y="1644997"/>
                  </a:lnTo>
                  <a:lnTo>
                    <a:pt x="7509756" y="1673395"/>
                  </a:lnTo>
                  <a:lnTo>
                    <a:pt x="7472531" y="1696501"/>
                  </a:lnTo>
                  <a:lnTo>
                    <a:pt x="7431771" y="1713730"/>
                  </a:lnTo>
                  <a:lnTo>
                    <a:pt x="7388065" y="1724497"/>
                  </a:lnTo>
                  <a:lnTo>
                    <a:pt x="7341997" y="1728215"/>
                  </a:lnTo>
                  <a:lnTo>
                    <a:pt x="284099" y="1728215"/>
                  </a:lnTo>
                  <a:lnTo>
                    <a:pt x="238030" y="1724497"/>
                  </a:lnTo>
                  <a:lnTo>
                    <a:pt x="194324" y="1713730"/>
                  </a:lnTo>
                  <a:lnTo>
                    <a:pt x="153564" y="1696501"/>
                  </a:lnTo>
                  <a:lnTo>
                    <a:pt x="116339" y="1673395"/>
                  </a:lnTo>
                  <a:lnTo>
                    <a:pt x="83232" y="1644997"/>
                  </a:lnTo>
                  <a:lnTo>
                    <a:pt x="54831" y="1611893"/>
                  </a:lnTo>
                  <a:lnTo>
                    <a:pt x="31721" y="1574667"/>
                  </a:lnTo>
                  <a:lnTo>
                    <a:pt x="14489" y="1533906"/>
                  </a:lnTo>
                  <a:lnTo>
                    <a:pt x="3719" y="1490194"/>
                  </a:lnTo>
                  <a:lnTo>
                    <a:pt x="0" y="1444116"/>
                  </a:lnTo>
                  <a:lnTo>
                    <a:pt x="0" y="284098"/>
                  </a:lnTo>
                  <a:close/>
                </a:path>
              </a:pathLst>
            </a:custGeom>
            <a:ln w="7619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 sz="1125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020739" y="5213479"/>
            <a:ext cx="4584245" cy="1152399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7938" algn="just">
              <a:spcBef>
                <a:spcPts val="56"/>
              </a:spcBef>
            </a:pPr>
            <a:r>
              <a:rPr sz="1400" b="1" spc="-6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Decision-</a:t>
            </a:r>
            <a:r>
              <a:rPr sz="1400" b="1" spc="-11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r>
              <a:rPr sz="1400" b="1" spc="-6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 marR="3175" algn="just">
              <a:lnSpc>
                <a:spcPct val="138800"/>
              </a:lnSpc>
              <a:spcBef>
                <a:spcPts val="478"/>
              </a:spcBef>
            </a:pP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z="1400" spc="-34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stakeholders</a:t>
            </a:r>
            <a:r>
              <a:rPr sz="1400" spc="-34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sz="1400" spc="-1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8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</a:t>
            </a:r>
            <a:r>
              <a:rPr sz="1400" spc="-1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time,</a:t>
            </a:r>
            <a:r>
              <a:rPr sz="1400" spc="-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actionable</a:t>
            </a:r>
            <a:r>
              <a:rPr sz="1400" spc="-47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sz="1400" spc="-34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400" spc="-1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sz="1400" spc="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informed decisions.</a:t>
            </a:r>
            <a:r>
              <a:rPr sz="1400" spc="-1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</a:t>
            </a:r>
            <a:r>
              <a:rPr sz="1400" spc="-22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  <a:r>
              <a:rPr sz="1400" spc="-41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sz="1400" spc="-44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the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interactivity</a:t>
            </a:r>
            <a:r>
              <a:rPr sz="1400" spc="-5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31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</a:t>
            </a:r>
            <a:r>
              <a:rPr sz="1400" spc="-1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clarity</a:t>
            </a:r>
            <a:r>
              <a:rPr sz="1400" spc="-41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sz="1400" spc="-22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</a:t>
            </a:r>
            <a:r>
              <a:rPr sz="1400" spc="-47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</a:t>
            </a:r>
            <a:r>
              <a:rPr sz="1400" spc="-5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C7870B7-B30D-2A58-1988-B944565A2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258" y="9144"/>
            <a:ext cx="1352741" cy="10003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407" y="499383"/>
            <a:ext cx="3511233" cy="515045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938">
              <a:lnSpc>
                <a:spcPct val="100000"/>
              </a:lnSpc>
              <a:spcBef>
                <a:spcPts val="56"/>
              </a:spcBef>
            </a:pPr>
            <a:r>
              <a:rPr spc="-1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2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6406" y="1281890"/>
            <a:ext cx="8132762" cy="646460"/>
          </a:xfrm>
          <a:prstGeom prst="rect">
            <a:avLst/>
          </a:prstGeom>
        </p:spPr>
        <p:txBody>
          <a:bodyPr vert="horz" wrap="square" lIns="0" tIns="7938" rIns="0" bIns="0" rtlCol="0">
            <a:spAutoFit/>
          </a:bodyPr>
          <a:lstStyle/>
          <a:p>
            <a:pPr marL="7938" marR="3175" algn="just">
              <a:lnSpc>
                <a:spcPct val="136700"/>
              </a:lnSpc>
              <a:spcBef>
                <a:spcPts val="63"/>
              </a:spcBef>
            </a:pP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6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16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</a:t>
            </a:r>
            <a:r>
              <a:rPr sz="1600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r>
              <a:rPr sz="1600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r>
              <a:rPr sz="16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16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</a:t>
            </a:r>
            <a:r>
              <a:rPr sz="16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z="16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r>
              <a:rPr sz="1600" spc="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16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</a:t>
            </a:r>
            <a:r>
              <a:rPr sz="16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1600" spc="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sz="16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6406" y="2193106"/>
            <a:ext cx="4017566" cy="2075761"/>
          </a:xfrm>
          <a:prstGeom prst="rect">
            <a:avLst/>
          </a:prstGeom>
        </p:spPr>
        <p:txBody>
          <a:bodyPr vert="horz" wrap="square" lIns="0" tIns="84138" rIns="0" bIns="0" rtlCol="0">
            <a:spAutoFit/>
          </a:bodyPr>
          <a:lstStyle/>
          <a:p>
            <a:pPr marL="7938">
              <a:spcBef>
                <a:spcPts val="663"/>
              </a:spcBef>
            </a:pP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>
              <a:spcBef>
                <a:spcPts val="813"/>
              </a:spcBef>
            </a:pPr>
            <a:r>
              <a:rPr sz="1600" b="1" spc="-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</a:t>
            </a:r>
            <a:r>
              <a:rPr sz="1600" b="1" spc="-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r>
              <a:rPr sz="1600" b="1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 marR="3175">
              <a:lnSpc>
                <a:spcPct val="138900"/>
              </a:lnSpc>
              <a:spcBef>
                <a:spcPts val="475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</a:t>
            </a:r>
            <a:r>
              <a:rPr sz="1600" spc="-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sz="1600" spc="-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1600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sz="1600" spc="-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insurance,</a:t>
            </a:r>
            <a:r>
              <a:rPr sz="1600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loans,</a:t>
            </a:r>
            <a:r>
              <a:rPr sz="1600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recharges,</a:t>
            </a: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payments,</a:t>
            </a:r>
            <a:r>
              <a:rPr sz="1600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transfers</a:t>
            </a:r>
            <a:r>
              <a:rPr sz="16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sz="16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</a:t>
            </a:r>
            <a:r>
              <a:rPr sz="1600" spc="-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sz="16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78745" y="2193105"/>
            <a:ext cx="3519884" cy="2075761"/>
          </a:xfrm>
          <a:prstGeom prst="rect">
            <a:avLst/>
          </a:prstGeom>
        </p:spPr>
        <p:txBody>
          <a:bodyPr vert="horz" wrap="square" lIns="0" tIns="84138" rIns="0" bIns="0" rtlCol="0">
            <a:spAutoFit/>
          </a:bodyPr>
          <a:lstStyle/>
          <a:p>
            <a:pPr marL="7938" algn="just">
              <a:spcBef>
                <a:spcPts val="663"/>
              </a:spcBef>
            </a:pP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 algn="just">
              <a:spcBef>
                <a:spcPts val="813"/>
              </a:spcBef>
            </a:pPr>
            <a:r>
              <a:rPr sz="1600" b="1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</a:t>
            </a:r>
            <a:r>
              <a:rPr sz="1600" b="1" spc="-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sz="1600" b="1" spc="-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 marR="3175" algn="just">
              <a:lnSpc>
                <a:spcPct val="138900"/>
              </a:lnSpc>
              <a:spcBef>
                <a:spcPts val="475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r>
              <a:rPr sz="16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r>
              <a:rPr sz="1600" spc="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volumes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amounts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sz="1600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sz="16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categories.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406" y="4524660"/>
            <a:ext cx="3996531" cy="2075360"/>
          </a:xfrm>
          <a:prstGeom prst="rect">
            <a:avLst/>
          </a:prstGeom>
        </p:spPr>
        <p:txBody>
          <a:bodyPr vert="horz" wrap="square" lIns="0" tIns="83741" rIns="0" bIns="0" rtlCol="0">
            <a:spAutoFit/>
          </a:bodyPr>
          <a:lstStyle/>
          <a:p>
            <a:pPr marL="7938">
              <a:spcBef>
                <a:spcPts val="659"/>
              </a:spcBef>
            </a:pP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>
              <a:spcBef>
                <a:spcPts val="813"/>
              </a:spcBef>
            </a:pPr>
            <a:r>
              <a:rPr sz="1600" b="1" spc="-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</a:t>
            </a:r>
            <a:r>
              <a:rPr sz="1600" b="1" spc="-1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sz="16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 marR="3175">
              <a:lnSpc>
                <a:spcPct val="138800"/>
              </a:lnSpc>
              <a:spcBef>
                <a:spcPts val="478"/>
              </a:spcBef>
            </a:pP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Systematically</a:t>
            </a:r>
            <a:r>
              <a:rPr sz="1600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sz="1600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sz="1600" spc="-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-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uncover</a:t>
            </a:r>
            <a:r>
              <a:rPr sz="1600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sz="1600" spc="-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reasons,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</a:t>
            </a:r>
            <a:r>
              <a:rPr sz="1600" spc="-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</a:t>
            </a:r>
            <a:r>
              <a:rPr sz="1600" spc="-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times,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service-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sz="1600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</a:t>
            </a:r>
            <a:r>
              <a:rPr sz="16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affecting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  <a:r>
              <a:rPr sz="1600" spc="-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78745" y="4538430"/>
            <a:ext cx="3589338" cy="2075360"/>
          </a:xfrm>
          <a:prstGeom prst="rect">
            <a:avLst/>
          </a:prstGeom>
        </p:spPr>
        <p:txBody>
          <a:bodyPr vert="horz" wrap="square" lIns="0" tIns="83741" rIns="0" bIns="0" rtlCol="0">
            <a:spAutoFit/>
          </a:bodyPr>
          <a:lstStyle/>
          <a:p>
            <a:pPr marL="7938" algn="just">
              <a:spcBef>
                <a:spcPts val="659"/>
              </a:spcBef>
            </a:pP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 algn="just">
              <a:spcBef>
                <a:spcPts val="813"/>
              </a:spcBef>
            </a:pPr>
            <a:r>
              <a:rPr sz="1600" b="1" spc="-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600" b="1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1600" b="1" spc="-1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 marR="3175" algn="just">
              <a:lnSpc>
                <a:spcPct val="138800"/>
              </a:lnSpc>
              <a:spcBef>
                <a:spcPts val="478"/>
              </a:spcBef>
            </a:pPr>
            <a:r>
              <a:rPr sz="1600" spc="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</a:t>
            </a:r>
            <a:r>
              <a:rPr sz="16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friendly,</a:t>
            </a:r>
            <a:r>
              <a:rPr sz="1600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6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16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sz="1600" spc="-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1600" spc="-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</a:t>
            </a:r>
            <a:r>
              <a:rPr sz="1600" spc="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</a:t>
            </a:r>
            <a:r>
              <a:rPr sz="1600" spc="-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</a:t>
            </a:r>
            <a:r>
              <a:rPr sz="1600" spc="-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spc="-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</a:t>
            </a:r>
            <a:r>
              <a:rPr sz="1600" spc="-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  <a:r>
              <a:rPr sz="1600" spc="-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sz="16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independently.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D650DB-C854-E58E-94C8-B4A302AA5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258" y="9144"/>
            <a:ext cx="1352741" cy="10003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3550" y="1183763"/>
            <a:ext cx="360045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5427" y="340450"/>
            <a:ext cx="3996573" cy="499656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938">
              <a:lnSpc>
                <a:spcPct val="100000"/>
              </a:lnSpc>
              <a:spcBef>
                <a:spcPts val="56"/>
              </a:spcBef>
            </a:pPr>
            <a:r>
              <a:rPr sz="3200" spc="-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sz="3200" spc="-2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32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3200" spc="-1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4725" y="1125867"/>
            <a:ext cx="4636429" cy="5615304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7938">
              <a:spcBef>
                <a:spcPts val="84"/>
              </a:spcBef>
            </a:pPr>
            <a:r>
              <a:rPr sz="1600" b="1" spc="-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1600" b="1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sz="1600" b="1" spc="-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>
              <a:spcBef>
                <a:spcPts val="766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sz="1600" spc="-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</a:t>
            </a:r>
            <a:r>
              <a:rPr sz="16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600" spc="-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r>
              <a:rPr sz="1600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>
              <a:spcBef>
                <a:spcPts val="363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sz="16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sz="16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calculations</a:t>
            </a:r>
            <a:r>
              <a:rPr sz="1600" spc="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19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/>
            <a:r>
              <a:rPr sz="1600" b="1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b="1" spc="-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 marR="3175">
              <a:lnSpc>
                <a:spcPct val="140100"/>
              </a:lnSpc>
              <a:spcBef>
                <a:spcPts val="403"/>
              </a:spcBef>
            </a:pP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sz="16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sz="1600" spc="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containing</a:t>
            </a: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records,</a:t>
            </a:r>
            <a:r>
              <a:rPr sz="1600" spc="-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</a:t>
            </a:r>
            <a:r>
              <a:rPr sz="1600" spc="-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transformed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sz="1600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</a:t>
            </a:r>
            <a:r>
              <a:rPr sz="1600" spc="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19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/>
            <a:r>
              <a:rPr sz="1600" b="1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>
              <a:spcBef>
                <a:spcPts val="766"/>
              </a:spcBef>
            </a:pP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Validation,</a:t>
            </a:r>
            <a:r>
              <a:rPr sz="1600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removal,</a:t>
            </a:r>
            <a:r>
              <a:rPr sz="1600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handling,</a:t>
            </a:r>
            <a:r>
              <a:rPr sz="16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</a:t>
            </a:r>
            <a:r>
              <a:rPr sz="1600" spc="-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sz="1600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formats</a:t>
            </a: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>
              <a:spcBef>
                <a:spcPts val="363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</a:t>
            </a:r>
            <a:r>
              <a:rPr sz="1600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</a:t>
            </a:r>
            <a:r>
              <a:rPr sz="1600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16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>
              <a:spcBef>
                <a:spcPts val="3"/>
              </a:spcBef>
            </a:pPr>
            <a:r>
              <a:rPr sz="1600" b="1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sz="16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8" marR="86916">
              <a:lnSpc>
                <a:spcPct val="140100"/>
              </a:lnSpc>
              <a:spcBef>
                <a:spcPts val="403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sz="1600" spc="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</a:t>
            </a:r>
            <a:r>
              <a:rPr sz="1600" spc="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  <a:r>
              <a:rPr sz="16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sz="1600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service-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wise</a:t>
            </a:r>
            <a:r>
              <a:rPr sz="1600" spc="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16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  <a:r>
              <a:rPr sz="1600" spc="-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336" y="1183763"/>
            <a:ext cx="497204" cy="55574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4A6E1A-C9A2-46FE-36A6-926C880FF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258" y="0"/>
            <a:ext cx="1352741" cy="10003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10">
            <a:extLst>
              <a:ext uri="{FF2B5EF4-FFF2-40B4-BE49-F238E27FC236}">
                <a16:creationId xmlns:a16="http://schemas.microsoft.com/office/drawing/2014/main" id="{BF918818-9ECC-3783-0DD4-FD6484F5F1DD}"/>
              </a:ext>
            </a:extLst>
          </p:cNvPr>
          <p:cNvGrpSpPr/>
          <p:nvPr/>
        </p:nvGrpSpPr>
        <p:grpSpPr>
          <a:xfrm>
            <a:off x="400121" y="2198527"/>
            <a:ext cx="4532645" cy="1601091"/>
            <a:chOff x="10150602" y="2359914"/>
            <a:chExt cx="3729354" cy="2952115"/>
          </a:xfrm>
        </p:grpSpPr>
        <p:sp>
          <p:nvSpPr>
            <p:cNvPr id="7" name="object 11">
              <a:extLst>
                <a:ext uri="{FF2B5EF4-FFF2-40B4-BE49-F238E27FC236}">
                  <a16:creationId xmlns:a16="http://schemas.microsoft.com/office/drawing/2014/main" id="{FCF1737A-A68B-8EAF-FDDE-4D0C68C1B44D}"/>
                </a:ext>
              </a:extLst>
            </p:cNvPr>
            <p:cNvSpPr/>
            <p:nvPr/>
          </p:nvSpPr>
          <p:spPr>
            <a:xfrm>
              <a:off x="10154412" y="2363724"/>
              <a:ext cx="3721735" cy="2944495"/>
            </a:xfrm>
            <a:custGeom>
              <a:avLst/>
              <a:gdLst/>
              <a:ahLst/>
              <a:cxnLst/>
              <a:rect l="l" t="t" r="r" b="b"/>
              <a:pathLst>
                <a:path w="3721734" h="2944495">
                  <a:moveTo>
                    <a:pt x="3437128" y="0"/>
                  </a:moveTo>
                  <a:lnTo>
                    <a:pt x="284480" y="0"/>
                  </a:lnTo>
                  <a:lnTo>
                    <a:pt x="238339" y="3723"/>
                  </a:lnTo>
                  <a:lnTo>
                    <a:pt x="194568" y="14504"/>
                  </a:lnTo>
                  <a:lnTo>
                    <a:pt x="153751" y="31755"/>
                  </a:lnTo>
                  <a:lnTo>
                    <a:pt x="116476" y="54892"/>
                  </a:lnTo>
                  <a:lnTo>
                    <a:pt x="83327" y="83327"/>
                  </a:lnTo>
                  <a:lnTo>
                    <a:pt x="54892" y="116476"/>
                  </a:lnTo>
                  <a:lnTo>
                    <a:pt x="31755" y="153751"/>
                  </a:lnTo>
                  <a:lnTo>
                    <a:pt x="14504" y="194568"/>
                  </a:lnTo>
                  <a:lnTo>
                    <a:pt x="3723" y="238339"/>
                  </a:lnTo>
                  <a:lnTo>
                    <a:pt x="0" y="284479"/>
                  </a:lnTo>
                  <a:lnTo>
                    <a:pt x="0" y="2659888"/>
                  </a:lnTo>
                  <a:lnTo>
                    <a:pt x="3723" y="2706028"/>
                  </a:lnTo>
                  <a:lnTo>
                    <a:pt x="14504" y="2749799"/>
                  </a:lnTo>
                  <a:lnTo>
                    <a:pt x="31755" y="2790616"/>
                  </a:lnTo>
                  <a:lnTo>
                    <a:pt x="54892" y="2827891"/>
                  </a:lnTo>
                  <a:lnTo>
                    <a:pt x="83327" y="2861040"/>
                  </a:lnTo>
                  <a:lnTo>
                    <a:pt x="116476" y="2889475"/>
                  </a:lnTo>
                  <a:lnTo>
                    <a:pt x="153751" y="2912612"/>
                  </a:lnTo>
                  <a:lnTo>
                    <a:pt x="194568" y="2929863"/>
                  </a:lnTo>
                  <a:lnTo>
                    <a:pt x="238339" y="2940644"/>
                  </a:lnTo>
                  <a:lnTo>
                    <a:pt x="284480" y="2944368"/>
                  </a:lnTo>
                  <a:lnTo>
                    <a:pt x="3437128" y="2944368"/>
                  </a:lnTo>
                  <a:lnTo>
                    <a:pt x="3483268" y="2940644"/>
                  </a:lnTo>
                  <a:lnTo>
                    <a:pt x="3527039" y="2929863"/>
                  </a:lnTo>
                  <a:lnTo>
                    <a:pt x="3567856" y="2912612"/>
                  </a:lnTo>
                  <a:lnTo>
                    <a:pt x="3605131" y="2889475"/>
                  </a:lnTo>
                  <a:lnTo>
                    <a:pt x="3638280" y="2861040"/>
                  </a:lnTo>
                  <a:lnTo>
                    <a:pt x="3666715" y="2827891"/>
                  </a:lnTo>
                  <a:lnTo>
                    <a:pt x="3689852" y="2790616"/>
                  </a:lnTo>
                  <a:lnTo>
                    <a:pt x="3707103" y="2749799"/>
                  </a:lnTo>
                  <a:lnTo>
                    <a:pt x="3717884" y="2706028"/>
                  </a:lnTo>
                  <a:lnTo>
                    <a:pt x="3721607" y="2659888"/>
                  </a:lnTo>
                  <a:lnTo>
                    <a:pt x="3721607" y="284479"/>
                  </a:lnTo>
                  <a:lnTo>
                    <a:pt x="3717884" y="238339"/>
                  </a:lnTo>
                  <a:lnTo>
                    <a:pt x="3707103" y="194568"/>
                  </a:lnTo>
                  <a:lnTo>
                    <a:pt x="3689852" y="153751"/>
                  </a:lnTo>
                  <a:lnTo>
                    <a:pt x="3666715" y="116476"/>
                  </a:lnTo>
                  <a:lnTo>
                    <a:pt x="3638280" y="83327"/>
                  </a:lnTo>
                  <a:lnTo>
                    <a:pt x="3605131" y="54892"/>
                  </a:lnTo>
                  <a:lnTo>
                    <a:pt x="3567856" y="31755"/>
                  </a:lnTo>
                  <a:lnTo>
                    <a:pt x="3527039" y="14504"/>
                  </a:lnTo>
                  <a:lnTo>
                    <a:pt x="3483268" y="3723"/>
                  </a:lnTo>
                  <a:lnTo>
                    <a:pt x="3437128" y="0"/>
                  </a:lnTo>
                  <a:close/>
                </a:path>
              </a:pathLst>
            </a:custGeom>
            <a:solidFill>
              <a:srgbClr val="D3E9F7"/>
            </a:solidFill>
          </p:spPr>
          <p:txBody>
            <a:bodyPr wrap="square" lIns="0" tIns="0" rIns="0" bIns="0" rtlCol="0"/>
            <a:lstStyle/>
            <a:p>
              <a:endParaRPr sz="1125"/>
            </a:p>
          </p:txBody>
        </p:sp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A067FBAE-1C05-4739-08E1-A7729F52701C}"/>
                </a:ext>
              </a:extLst>
            </p:cNvPr>
            <p:cNvSpPr/>
            <p:nvPr/>
          </p:nvSpPr>
          <p:spPr>
            <a:xfrm>
              <a:off x="10154412" y="2363724"/>
              <a:ext cx="3721735" cy="2944495"/>
            </a:xfrm>
            <a:custGeom>
              <a:avLst/>
              <a:gdLst/>
              <a:ahLst/>
              <a:cxnLst/>
              <a:rect l="l" t="t" r="r" b="b"/>
              <a:pathLst>
                <a:path w="3721734" h="2944495">
                  <a:moveTo>
                    <a:pt x="0" y="284479"/>
                  </a:moveTo>
                  <a:lnTo>
                    <a:pt x="3723" y="238339"/>
                  </a:lnTo>
                  <a:lnTo>
                    <a:pt x="14504" y="194568"/>
                  </a:lnTo>
                  <a:lnTo>
                    <a:pt x="31755" y="153751"/>
                  </a:lnTo>
                  <a:lnTo>
                    <a:pt x="54892" y="116476"/>
                  </a:lnTo>
                  <a:lnTo>
                    <a:pt x="83327" y="83327"/>
                  </a:lnTo>
                  <a:lnTo>
                    <a:pt x="116476" y="54892"/>
                  </a:lnTo>
                  <a:lnTo>
                    <a:pt x="153751" y="31755"/>
                  </a:lnTo>
                  <a:lnTo>
                    <a:pt x="194568" y="14504"/>
                  </a:lnTo>
                  <a:lnTo>
                    <a:pt x="238339" y="3723"/>
                  </a:lnTo>
                  <a:lnTo>
                    <a:pt x="284480" y="0"/>
                  </a:lnTo>
                  <a:lnTo>
                    <a:pt x="3437128" y="0"/>
                  </a:lnTo>
                  <a:lnTo>
                    <a:pt x="3483268" y="3723"/>
                  </a:lnTo>
                  <a:lnTo>
                    <a:pt x="3527039" y="14504"/>
                  </a:lnTo>
                  <a:lnTo>
                    <a:pt x="3567856" y="31755"/>
                  </a:lnTo>
                  <a:lnTo>
                    <a:pt x="3605131" y="54892"/>
                  </a:lnTo>
                  <a:lnTo>
                    <a:pt x="3638280" y="83327"/>
                  </a:lnTo>
                  <a:lnTo>
                    <a:pt x="3666715" y="116476"/>
                  </a:lnTo>
                  <a:lnTo>
                    <a:pt x="3689852" y="153751"/>
                  </a:lnTo>
                  <a:lnTo>
                    <a:pt x="3707103" y="194568"/>
                  </a:lnTo>
                  <a:lnTo>
                    <a:pt x="3717884" y="238339"/>
                  </a:lnTo>
                  <a:lnTo>
                    <a:pt x="3721607" y="284479"/>
                  </a:lnTo>
                  <a:lnTo>
                    <a:pt x="3721607" y="2659888"/>
                  </a:lnTo>
                  <a:lnTo>
                    <a:pt x="3717884" y="2706028"/>
                  </a:lnTo>
                  <a:lnTo>
                    <a:pt x="3707103" y="2749799"/>
                  </a:lnTo>
                  <a:lnTo>
                    <a:pt x="3689852" y="2790616"/>
                  </a:lnTo>
                  <a:lnTo>
                    <a:pt x="3666715" y="2827891"/>
                  </a:lnTo>
                  <a:lnTo>
                    <a:pt x="3638280" y="2861040"/>
                  </a:lnTo>
                  <a:lnTo>
                    <a:pt x="3605131" y="2889475"/>
                  </a:lnTo>
                  <a:lnTo>
                    <a:pt x="3567856" y="2912612"/>
                  </a:lnTo>
                  <a:lnTo>
                    <a:pt x="3527039" y="2929863"/>
                  </a:lnTo>
                  <a:lnTo>
                    <a:pt x="3483268" y="2940644"/>
                  </a:lnTo>
                  <a:lnTo>
                    <a:pt x="3437128" y="2944368"/>
                  </a:lnTo>
                  <a:lnTo>
                    <a:pt x="284480" y="2944368"/>
                  </a:lnTo>
                  <a:lnTo>
                    <a:pt x="238339" y="2940644"/>
                  </a:lnTo>
                  <a:lnTo>
                    <a:pt x="194568" y="2929863"/>
                  </a:lnTo>
                  <a:lnTo>
                    <a:pt x="153751" y="2912612"/>
                  </a:lnTo>
                  <a:lnTo>
                    <a:pt x="116476" y="2889475"/>
                  </a:lnTo>
                  <a:lnTo>
                    <a:pt x="83327" y="2861040"/>
                  </a:lnTo>
                  <a:lnTo>
                    <a:pt x="54892" y="2827891"/>
                  </a:lnTo>
                  <a:lnTo>
                    <a:pt x="31755" y="2790616"/>
                  </a:lnTo>
                  <a:lnTo>
                    <a:pt x="14504" y="2749799"/>
                  </a:lnTo>
                  <a:lnTo>
                    <a:pt x="3723" y="2706028"/>
                  </a:lnTo>
                  <a:lnTo>
                    <a:pt x="0" y="2659888"/>
                  </a:lnTo>
                  <a:lnTo>
                    <a:pt x="0" y="284479"/>
                  </a:lnTo>
                  <a:close/>
                </a:path>
              </a:pathLst>
            </a:custGeom>
            <a:ln w="7620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 sz="1125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83763"/>
            <a:ext cx="7886700" cy="831304"/>
          </a:xfrm>
        </p:spPr>
        <p:txBody>
          <a:bodyPr>
            <a:normAutofit/>
          </a:bodyPr>
          <a:lstStyle/>
          <a:p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45267"/>
            <a:ext cx="4459817" cy="3831696"/>
          </a:xfrm>
        </p:spPr>
        <p:txBody>
          <a:bodyPr>
            <a:normAutofit/>
          </a:bodyPr>
          <a:lstStyle/>
          <a:p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Pulse Dataset</a:t>
            </a: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Years: 2018–2022</a:t>
            </a: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Includes: Transactions, Users, States, Districts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Brands, Region, Registered users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00A237-7873-25EE-A380-8B579FBDF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258" y="0"/>
            <a:ext cx="1352741" cy="1000303"/>
          </a:xfrm>
          <a:prstGeom prst="rect">
            <a:avLst/>
          </a:prstGeom>
        </p:spPr>
      </p:pic>
      <p:pic>
        <p:nvPicPr>
          <p:cNvPr id="5" name="object 2">
            <a:extLst>
              <a:ext uri="{FF2B5EF4-FFF2-40B4-BE49-F238E27FC236}">
                <a16:creationId xmlns:a16="http://schemas.microsoft.com/office/drawing/2014/main" id="{A65A67D5-C6C3-4BB3-5B7C-2BF82C04FDA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3550" y="1183763"/>
            <a:ext cx="36004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716F3-BB3A-C037-0505-0ADA8303E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Preview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66CC0B-2D6D-114E-C80D-C21B9641A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522" y="1512358"/>
            <a:ext cx="7344076" cy="45021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685B38-5150-82F7-F7A4-637DB307B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258" y="0"/>
            <a:ext cx="1352741" cy="100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2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Amount: 121.41T</a:t>
            </a: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Users: 3bn</a:t>
            </a: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Transactions: 72bn</a:t>
            </a: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Growth: 85.75%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Year Amount: 34.60T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1362CB-2FF6-FC3B-A82F-A01E34F56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258" y="0"/>
            <a:ext cx="1352741" cy="10003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7D8C05-84CD-4F01-A1DD-739A31B1F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1" y="4001294"/>
            <a:ext cx="7572377" cy="7363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2062-3B61-11E7-4EB5-0C0DF6F5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 Visualization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4B340A-83C2-7277-4B1D-D5F560817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81" y="1690689"/>
            <a:ext cx="7814169" cy="4537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D241BF-61A5-4DEA-826B-3F7D5BA70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258" y="0"/>
            <a:ext cx="1352741" cy="100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431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object 6">
            <a:extLst>
              <a:ext uri="{FF2B5EF4-FFF2-40B4-BE49-F238E27FC236}">
                <a16:creationId xmlns:a16="http://schemas.microsoft.com/office/drawing/2014/main" id="{29B8FF6C-0B50-A7F0-DC77-D30E9FF3547D}"/>
              </a:ext>
            </a:extLst>
          </p:cNvPr>
          <p:cNvGrpSpPr/>
          <p:nvPr/>
        </p:nvGrpSpPr>
        <p:grpSpPr>
          <a:xfrm>
            <a:off x="553307" y="4209151"/>
            <a:ext cx="3921633" cy="1901845"/>
            <a:chOff x="6246114" y="2359914"/>
            <a:chExt cx="3729354" cy="295211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20" name="object 7">
              <a:extLst>
                <a:ext uri="{FF2B5EF4-FFF2-40B4-BE49-F238E27FC236}">
                  <a16:creationId xmlns:a16="http://schemas.microsoft.com/office/drawing/2014/main" id="{665A78FF-865F-9A84-4C33-FBEBA5846AA2}"/>
                </a:ext>
              </a:extLst>
            </p:cNvPr>
            <p:cNvSpPr/>
            <p:nvPr/>
          </p:nvSpPr>
          <p:spPr>
            <a:xfrm>
              <a:off x="6249924" y="2363724"/>
              <a:ext cx="3721735" cy="2944495"/>
            </a:xfrm>
            <a:custGeom>
              <a:avLst/>
              <a:gdLst/>
              <a:ahLst/>
              <a:cxnLst/>
              <a:rect l="l" t="t" r="r" b="b"/>
              <a:pathLst>
                <a:path w="3721734" h="2944495">
                  <a:moveTo>
                    <a:pt x="3437128" y="0"/>
                  </a:moveTo>
                  <a:lnTo>
                    <a:pt x="284479" y="0"/>
                  </a:lnTo>
                  <a:lnTo>
                    <a:pt x="238339" y="3723"/>
                  </a:lnTo>
                  <a:lnTo>
                    <a:pt x="194568" y="14504"/>
                  </a:lnTo>
                  <a:lnTo>
                    <a:pt x="153751" y="31755"/>
                  </a:lnTo>
                  <a:lnTo>
                    <a:pt x="116476" y="54892"/>
                  </a:lnTo>
                  <a:lnTo>
                    <a:pt x="83327" y="83327"/>
                  </a:lnTo>
                  <a:lnTo>
                    <a:pt x="54892" y="116476"/>
                  </a:lnTo>
                  <a:lnTo>
                    <a:pt x="31755" y="153751"/>
                  </a:lnTo>
                  <a:lnTo>
                    <a:pt x="14504" y="194568"/>
                  </a:lnTo>
                  <a:lnTo>
                    <a:pt x="3723" y="238339"/>
                  </a:lnTo>
                  <a:lnTo>
                    <a:pt x="0" y="284479"/>
                  </a:lnTo>
                  <a:lnTo>
                    <a:pt x="0" y="2659888"/>
                  </a:lnTo>
                  <a:lnTo>
                    <a:pt x="3723" y="2706028"/>
                  </a:lnTo>
                  <a:lnTo>
                    <a:pt x="14504" y="2749799"/>
                  </a:lnTo>
                  <a:lnTo>
                    <a:pt x="31755" y="2790616"/>
                  </a:lnTo>
                  <a:lnTo>
                    <a:pt x="54892" y="2827891"/>
                  </a:lnTo>
                  <a:lnTo>
                    <a:pt x="83327" y="2861040"/>
                  </a:lnTo>
                  <a:lnTo>
                    <a:pt x="116476" y="2889475"/>
                  </a:lnTo>
                  <a:lnTo>
                    <a:pt x="153751" y="2912612"/>
                  </a:lnTo>
                  <a:lnTo>
                    <a:pt x="194568" y="2929863"/>
                  </a:lnTo>
                  <a:lnTo>
                    <a:pt x="238339" y="2940644"/>
                  </a:lnTo>
                  <a:lnTo>
                    <a:pt x="284479" y="2944368"/>
                  </a:lnTo>
                  <a:lnTo>
                    <a:pt x="3437128" y="2944368"/>
                  </a:lnTo>
                  <a:lnTo>
                    <a:pt x="3483268" y="2940644"/>
                  </a:lnTo>
                  <a:lnTo>
                    <a:pt x="3527039" y="2929863"/>
                  </a:lnTo>
                  <a:lnTo>
                    <a:pt x="3567856" y="2912612"/>
                  </a:lnTo>
                  <a:lnTo>
                    <a:pt x="3605131" y="2889475"/>
                  </a:lnTo>
                  <a:lnTo>
                    <a:pt x="3638280" y="2861040"/>
                  </a:lnTo>
                  <a:lnTo>
                    <a:pt x="3666715" y="2827891"/>
                  </a:lnTo>
                  <a:lnTo>
                    <a:pt x="3689852" y="2790616"/>
                  </a:lnTo>
                  <a:lnTo>
                    <a:pt x="3707103" y="2749799"/>
                  </a:lnTo>
                  <a:lnTo>
                    <a:pt x="3717884" y="2706028"/>
                  </a:lnTo>
                  <a:lnTo>
                    <a:pt x="3721607" y="2659888"/>
                  </a:lnTo>
                  <a:lnTo>
                    <a:pt x="3721607" y="284479"/>
                  </a:lnTo>
                  <a:lnTo>
                    <a:pt x="3717884" y="238339"/>
                  </a:lnTo>
                  <a:lnTo>
                    <a:pt x="3707103" y="194568"/>
                  </a:lnTo>
                  <a:lnTo>
                    <a:pt x="3689852" y="153751"/>
                  </a:lnTo>
                  <a:lnTo>
                    <a:pt x="3666715" y="116476"/>
                  </a:lnTo>
                  <a:lnTo>
                    <a:pt x="3638280" y="83327"/>
                  </a:lnTo>
                  <a:lnTo>
                    <a:pt x="3605131" y="54892"/>
                  </a:lnTo>
                  <a:lnTo>
                    <a:pt x="3567856" y="31755"/>
                  </a:lnTo>
                  <a:lnTo>
                    <a:pt x="3527039" y="14504"/>
                  </a:lnTo>
                  <a:lnTo>
                    <a:pt x="3483268" y="3723"/>
                  </a:lnTo>
                  <a:lnTo>
                    <a:pt x="3437128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200">
                <a:highlight>
                  <a:srgbClr val="800080"/>
                </a:highlight>
              </a:endParaRPr>
            </a:p>
          </p:txBody>
        </p:sp>
        <p:sp>
          <p:nvSpPr>
            <p:cNvPr id="21" name="object 8">
              <a:extLst>
                <a:ext uri="{FF2B5EF4-FFF2-40B4-BE49-F238E27FC236}">
                  <a16:creationId xmlns:a16="http://schemas.microsoft.com/office/drawing/2014/main" id="{399ABB25-975C-1924-9A1E-DA36E04361C9}"/>
                </a:ext>
              </a:extLst>
            </p:cNvPr>
            <p:cNvSpPr/>
            <p:nvPr/>
          </p:nvSpPr>
          <p:spPr>
            <a:xfrm>
              <a:off x="6249924" y="2363724"/>
              <a:ext cx="3721735" cy="2944495"/>
            </a:xfrm>
            <a:custGeom>
              <a:avLst/>
              <a:gdLst/>
              <a:ahLst/>
              <a:cxnLst/>
              <a:rect l="l" t="t" r="r" b="b"/>
              <a:pathLst>
                <a:path w="3721734" h="2944495">
                  <a:moveTo>
                    <a:pt x="0" y="284479"/>
                  </a:moveTo>
                  <a:lnTo>
                    <a:pt x="3723" y="238339"/>
                  </a:lnTo>
                  <a:lnTo>
                    <a:pt x="14504" y="194568"/>
                  </a:lnTo>
                  <a:lnTo>
                    <a:pt x="31755" y="153751"/>
                  </a:lnTo>
                  <a:lnTo>
                    <a:pt x="54892" y="116476"/>
                  </a:lnTo>
                  <a:lnTo>
                    <a:pt x="83327" y="83327"/>
                  </a:lnTo>
                  <a:lnTo>
                    <a:pt x="116476" y="54892"/>
                  </a:lnTo>
                  <a:lnTo>
                    <a:pt x="153751" y="31755"/>
                  </a:lnTo>
                  <a:lnTo>
                    <a:pt x="194568" y="14504"/>
                  </a:lnTo>
                  <a:lnTo>
                    <a:pt x="238339" y="3723"/>
                  </a:lnTo>
                  <a:lnTo>
                    <a:pt x="284479" y="0"/>
                  </a:lnTo>
                  <a:lnTo>
                    <a:pt x="3437128" y="0"/>
                  </a:lnTo>
                  <a:lnTo>
                    <a:pt x="3483268" y="3723"/>
                  </a:lnTo>
                  <a:lnTo>
                    <a:pt x="3527039" y="14504"/>
                  </a:lnTo>
                  <a:lnTo>
                    <a:pt x="3567856" y="31755"/>
                  </a:lnTo>
                  <a:lnTo>
                    <a:pt x="3605131" y="54892"/>
                  </a:lnTo>
                  <a:lnTo>
                    <a:pt x="3638280" y="83327"/>
                  </a:lnTo>
                  <a:lnTo>
                    <a:pt x="3666715" y="116476"/>
                  </a:lnTo>
                  <a:lnTo>
                    <a:pt x="3689852" y="153751"/>
                  </a:lnTo>
                  <a:lnTo>
                    <a:pt x="3707103" y="194568"/>
                  </a:lnTo>
                  <a:lnTo>
                    <a:pt x="3717884" y="238339"/>
                  </a:lnTo>
                  <a:lnTo>
                    <a:pt x="3721607" y="284479"/>
                  </a:lnTo>
                  <a:lnTo>
                    <a:pt x="3721607" y="2659888"/>
                  </a:lnTo>
                  <a:lnTo>
                    <a:pt x="3717884" y="2706028"/>
                  </a:lnTo>
                  <a:lnTo>
                    <a:pt x="3707103" y="2749799"/>
                  </a:lnTo>
                  <a:lnTo>
                    <a:pt x="3689852" y="2790616"/>
                  </a:lnTo>
                  <a:lnTo>
                    <a:pt x="3666715" y="2827891"/>
                  </a:lnTo>
                  <a:lnTo>
                    <a:pt x="3638280" y="2861040"/>
                  </a:lnTo>
                  <a:lnTo>
                    <a:pt x="3605131" y="2889475"/>
                  </a:lnTo>
                  <a:lnTo>
                    <a:pt x="3567856" y="2912612"/>
                  </a:lnTo>
                  <a:lnTo>
                    <a:pt x="3527039" y="2929863"/>
                  </a:lnTo>
                  <a:lnTo>
                    <a:pt x="3483268" y="2940644"/>
                  </a:lnTo>
                  <a:lnTo>
                    <a:pt x="3437128" y="2944368"/>
                  </a:lnTo>
                  <a:lnTo>
                    <a:pt x="284479" y="2944368"/>
                  </a:lnTo>
                  <a:lnTo>
                    <a:pt x="238339" y="2940644"/>
                  </a:lnTo>
                  <a:lnTo>
                    <a:pt x="194568" y="2929863"/>
                  </a:lnTo>
                  <a:lnTo>
                    <a:pt x="153751" y="2912612"/>
                  </a:lnTo>
                  <a:lnTo>
                    <a:pt x="116476" y="2889475"/>
                  </a:lnTo>
                  <a:lnTo>
                    <a:pt x="83327" y="2861040"/>
                  </a:lnTo>
                  <a:lnTo>
                    <a:pt x="54892" y="2827891"/>
                  </a:lnTo>
                  <a:lnTo>
                    <a:pt x="31755" y="2790616"/>
                  </a:lnTo>
                  <a:lnTo>
                    <a:pt x="14504" y="2749799"/>
                  </a:lnTo>
                  <a:lnTo>
                    <a:pt x="3723" y="2706028"/>
                  </a:lnTo>
                  <a:lnTo>
                    <a:pt x="0" y="2659888"/>
                  </a:lnTo>
                  <a:lnTo>
                    <a:pt x="0" y="284479"/>
                  </a:lnTo>
                  <a:close/>
                </a:path>
              </a:pathLst>
            </a:custGeom>
            <a:grpFill/>
            <a:ln w="7620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highlight>
                  <a:srgbClr val="800080"/>
                </a:highlight>
              </a:endParaRPr>
            </a:p>
          </p:txBody>
        </p:sp>
      </p:grpSp>
      <p:grpSp>
        <p:nvGrpSpPr>
          <p:cNvPr id="16" name="object 6">
            <a:extLst>
              <a:ext uri="{FF2B5EF4-FFF2-40B4-BE49-F238E27FC236}">
                <a16:creationId xmlns:a16="http://schemas.microsoft.com/office/drawing/2014/main" id="{26D738C2-1CD4-BDF8-AA63-C906750E702F}"/>
              </a:ext>
            </a:extLst>
          </p:cNvPr>
          <p:cNvGrpSpPr/>
          <p:nvPr/>
        </p:nvGrpSpPr>
        <p:grpSpPr>
          <a:xfrm>
            <a:off x="4751087" y="1158988"/>
            <a:ext cx="3921633" cy="1901845"/>
            <a:chOff x="6246114" y="2359914"/>
            <a:chExt cx="3729354" cy="295211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0A721AEF-44AD-16F7-457E-E386E0987A34}"/>
                </a:ext>
              </a:extLst>
            </p:cNvPr>
            <p:cNvSpPr/>
            <p:nvPr/>
          </p:nvSpPr>
          <p:spPr>
            <a:xfrm>
              <a:off x="6249924" y="2363724"/>
              <a:ext cx="3721735" cy="2944495"/>
            </a:xfrm>
            <a:custGeom>
              <a:avLst/>
              <a:gdLst/>
              <a:ahLst/>
              <a:cxnLst/>
              <a:rect l="l" t="t" r="r" b="b"/>
              <a:pathLst>
                <a:path w="3721734" h="2944495">
                  <a:moveTo>
                    <a:pt x="3437128" y="0"/>
                  </a:moveTo>
                  <a:lnTo>
                    <a:pt x="284479" y="0"/>
                  </a:lnTo>
                  <a:lnTo>
                    <a:pt x="238339" y="3723"/>
                  </a:lnTo>
                  <a:lnTo>
                    <a:pt x="194568" y="14504"/>
                  </a:lnTo>
                  <a:lnTo>
                    <a:pt x="153751" y="31755"/>
                  </a:lnTo>
                  <a:lnTo>
                    <a:pt x="116476" y="54892"/>
                  </a:lnTo>
                  <a:lnTo>
                    <a:pt x="83327" y="83327"/>
                  </a:lnTo>
                  <a:lnTo>
                    <a:pt x="54892" y="116476"/>
                  </a:lnTo>
                  <a:lnTo>
                    <a:pt x="31755" y="153751"/>
                  </a:lnTo>
                  <a:lnTo>
                    <a:pt x="14504" y="194568"/>
                  </a:lnTo>
                  <a:lnTo>
                    <a:pt x="3723" y="238339"/>
                  </a:lnTo>
                  <a:lnTo>
                    <a:pt x="0" y="284479"/>
                  </a:lnTo>
                  <a:lnTo>
                    <a:pt x="0" y="2659888"/>
                  </a:lnTo>
                  <a:lnTo>
                    <a:pt x="3723" y="2706028"/>
                  </a:lnTo>
                  <a:lnTo>
                    <a:pt x="14504" y="2749799"/>
                  </a:lnTo>
                  <a:lnTo>
                    <a:pt x="31755" y="2790616"/>
                  </a:lnTo>
                  <a:lnTo>
                    <a:pt x="54892" y="2827891"/>
                  </a:lnTo>
                  <a:lnTo>
                    <a:pt x="83327" y="2861040"/>
                  </a:lnTo>
                  <a:lnTo>
                    <a:pt x="116476" y="2889475"/>
                  </a:lnTo>
                  <a:lnTo>
                    <a:pt x="153751" y="2912612"/>
                  </a:lnTo>
                  <a:lnTo>
                    <a:pt x="194568" y="2929863"/>
                  </a:lnTo>
                  <a:lnTo>
                    <a:pt x="238339" y="2940644"/>
                  </a:lnTo>
                  <a:lnTo>
                    <a:pt x="284479" y="2944368"/>
                  </a:lnTo>
                  <a:lnTo>
                    <a:pt x="3437128" y="2944368"/>
                  </a:lnTo>
                  <a:lnTo>
                    <a:pt x="3483268" y="2940644"/>
                  </a:lnTo>
                  <a:lnTo>
                    <a:pt x="3527039" y="2929863"/>
                  </a:lnTo>
                  <a:lnTo>
                    <a:pt x="3567856" y="2912612"/>
                  </a:lnTo>
                  <a:lnTo>
                    <a:pt x="3605131" y="2889475"/>
                  </a:lnTo>
                  <a:lnTo>
                    <a:pt x="3638280" y="2861040"/>
                  </a:lnTo>
                  <a:lnTo>
                    <a:pt x="3666715" y="2827891"/>
                  </a:lnTo>
                  <a:lnTo>
                    <a:pt x="3689852" y="2790616"/>
                  </a:lnTo>
                  <a:lnTo>
                    <a:pt x="3707103" y="2749799"/>
                  </a:lnTo>
                  <a:lnTo>
                    <a:pt x="3717884" y="2706028"/>
                  </a:lnTo>
                  <a:lnTo>
                    <a:pt x="3721607" y="2659888"/>
                  </a:lnTo>
                  <a:lnTo>
                    <a:pt x="3721607" y="284479"/>
                  </a:lnTo>
                  <a:lnTo>
                    <a:pt x="3717884" y="238339"/>
                  </a:lnTo>
                  <a:lnTo>
                    <a:pt x="3707103" y="194568"/>
                  </a:lnTo>
                  <a:lnTo>
                    <a:pt x="3689852" y="153751"/>
                  </a:lnTo>
                  <a:lnTo>
                    <a:pt x="3666715" y="116476"/>
                  </a:lnTo>
                  <a:lnTo>
                    <a:pt x="3638280" y="83327"/>
                  </a:lnTo>
                  <a:lnTo>
                    <a:pt x="3605131" y="54892"/>
                  </a:lnTo>
                  <a:lnTo>
                    <a:pt x="3567856" y="31755"/>
                  </a:lnTo>
                  <a:lnTo>
                    <a:pt x="3527039" y="14504"/>
                  </a:lnTo>
                  <a:lnTo>
                    <a:pt x="3483268" y="3723"/>
                  </a:lnTo>
                  <a:lnTo>
                    <a:pt x="3437128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200">
                <a:highlight>
                  <a:srgbClr val="800080"/>
                </a:highlight>
              </a:endParaRPr>
            </a:p>
          </p:txBody>
        </p:sp>
        <p:sp>
          <p:nvSpPr>
            <p:cNvPr id="18" name="object 8">
              <a:extLst>
                <a:ext uri="{FF2B5EF4-FFF2-40B4-BE49-F238E27FC236}">
                  <a16:creationId xmlns:a16="http://schemas.microsoft.com/office/drawing/2014/main" id="{27C10E8F-32BA-1F1A-4F04-FB807727FA00}"/>
                </a:ext>
              </a:extLst>
            </p:cNvPr>
            <p:cNvSpPr/>
            <p:nvPr/>
          </p:nvSpPr>
          <p:spPr>
            <a:xfrm>
              <a:off x="6249924" y="2363724"/>
              <a:ext cx="3721735" cy="2944495"/>
            </a:xfrm>
            <a:custGeom>
              <a:avLst/>
              <a:gdLst/>
              <a:ahLst/>
              <a:cxnLst/>
              <a:rect l="l" t="t" r="r" b="b"/>
              <a:pathLst>
                <a:path w="3721734" h="2944495">
                  <a:moveTo>
                    <a:pt x="0" y="284479"/>
                  </a:moveTo>
                  <a:lnTo>
                    <a:pt x="3723" y="238339"/>
                  </a:lnTo>
                  <a:lnTo>
                    <a:pt x="14504" y="194568"/>
                  </a:lnTo>
                  <a:lnTo>
                    <a:pt x="31755" y="153751"/>
                  </a:lnTo>
                  <a:lnTo>
                    <a:pt x="54892" y="116476"/>
                  </a:lnTo>
                  <a:lnTo>
                    <a:pt x="83327" y="83327"/>
                  </a:lnTo>
                  <a:lnTo>
                    <a:pt x="116476" y="54892"/>
                  </a:lnTo>
                  <a:lnTo>
                    <a:pt x="153751" y="31755"/>
                  </a:lnTo>
                  <a:lnTo>
                    <a:pt x="194568" y="14504"/>
                  </a:lnTo>
                  <a:lnTo>
                    <a:pt x="238339" y="3723"/>
                  </a:lnTo>
                  <a:lnTo>
                    <a:pt x="284479" y="0"/>
                  </a:lnTo>
                  <a:lnTo>
                    <a:pt x="3437128" y="0"/>
                  </a:lnTo>
                  <a:lnTo>
                    <a:pt x="3483268" y="3723"/>
                  </a:lnTo>
                  <a:lnTo>
                    <a:pt x="3527039" y="14504"/>
                  </a:lnTo>
                  <a:lnTo>
                    <a:pt x="3567856" y="31755"/>
                  </a:lnTo>
                  <a:lnTo>
                    <a:pt x="3605131" y="54892"/>
                  </a:lnTo>
                  <a:lnTo>
                    <a:pt x="3638280" y="83327"/>
                  </a:lnTo>
                  <a:lnTo>
                    <a:pt x="3666715" y="116476"/>
                  </a:lnTo>
                  <a:lnTo>
                    <a:pt x="3689852" y="153751"/>
                  </a:lnTo>
                  <a:lnTo>
                    <a:pt x="3707103" y="194568"/>
                  </a:lnTo>
                  <a:lnTo>
                    <a:pt x="3717884" y="238339"/>
                  </a:lnTo>
                  <a:lnTo>
                    <a:pt x="3721607" y="284479"/>
                  </a:lnTo>
                  <a:lnTo>
                    <a:pt x="3721607" y="2659888"/>
                  </a:lnTo>
                  <a:lnTo>
                    <a:pt x="3717884" y="2706028"/>
                  </a:lnTo>
                  <a:lnTo>
                    <a:pt x="3707103" y="2749799"/>
                  </a:lnTo>
                  <a:lnTo>
                    <a:pt x="3689852" y="2790616"/>
                  </a:lnTo>
                  <a:lnTo>
                    <a:pt x="3666715" y="2827891"/>
                  </a:lnTo>
                  <a:lnTo>
                    <a:pt x="3638280" y="2861040"/>
                  </a:lnTo>
                  <a:lnTo>
                    <a:pt x="3605131" y="2889475"/>
                  </a:lnTo>
                  <a:lnTo>
                    <a:pt x="3567856" y="2912612"/>
                  </a:lnTo>
                  <a:lnTo>
                    <a:pt x="3527039" y="2929863"/>
                  </a:lnTo>
                  <a:lnTo>
                    <a:pt x="3483268" y="2940644"/>
                  </a:lnTo>
                  <a:lnTo>
                    <a:pt x="3437128" y="2944368"/>
                  </a:lnTo>
                  <a:lnTo>
                    <a:pt x="284479" y="2944368"/>
                  </a:lnTo>
                  <a:lnTo>
                    <a:pt x="238339" y="2940644"/>
                  </a:lnTo>
                  <a:lnTo>
                    <a:pt x="194568" y="2929863"/>
                  </a:lnTo>
                  <a:lnTo>
                    <a:pt x="153751" y="2912612"/>
                  </a:lnTo>
                  <a:lnTo>
                    <a:pt x="116476" y="2889475"/>
                  </a:lnTo>
                  <a:lnTo>
                    <a:pt x="83327" y="2861040"/>
                  </a:lnTo>
                  <a:lnTo>
                    <a:pt x="54892" y="2827891"/>
                  </a:lnTo>
                  <a:lnTo>
                    <a:pt x="31755" y="2790616"/>
                  </a:lnTo>
                  <a:lnTo>
                    <a:pt x="14504" y="2749799"/>
                  </a:lnTo>
                  <a:lnTo>
                    <a:pt x="3723" y="2706028"/>
                  </a:lnTo>
                  <a:lnTo>
                    <a:pt x="0" y="2659888"/>
                  </a:lnTo>
                  <a:lnTo>
                    <a:pt x="0" y="284479"/>
                  </a:lnTo>
                  <a:close/>
                </a:path>
              </a:pathLst>
            </a:custGeom>
            <a:grpFill/>
            <a:ln w="7620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highlight>
                  <a:srgbClr val="800080"/>
                </a:highlight>
              </a:endParaRPr>
            </a:p>
          </p:txBody>
        </p:sp>
      </p:grp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B888DE1-0D89-BB03-CDF2-85A6B04D1F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535" y="1000303"/>
            <a:ext cx="4385466" cy="24603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94B76F-710D-4515-98CC-020C78AE1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8" y="3960410"/>
            <a:ext cx="4279809" cy="2243706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0A9F8E4E-E824-FB34-42F5-0AA52F049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7231" y="1194036"/>
            <a:ext cx="378934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Pune leads with the highest transaction value (~6.9T), followed by Jammu and Visakhapatnam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Indicates strong regional concentration of high-value digital transactions 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458A556-0AA5-85B4-C02E-45E22A3C488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39507" y="4014571"/>
            <a:ext cx="374121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Peer-to-peer payments dominate (~80%)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Merchant payments contribute ~16%, while other categories have minimal share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primary usage is money transfer rather than services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8CB8436-0254-2722-1229-BEE454155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258" y="0"/>
            <a:ext cx="1352741" cy="100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33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object 6">
            <a:extLst>
              <a:ext uri="{FF2B5EF4-FFF2-40B4-BE49-F238E27FC236}">
                <a16:creationId xmlns:a16="http://schemas.microsoft.com/office/drawing/2014/main" id="{C07A39B7-63BA-4FE2-891E-0E3E35314849}"/>
              </a:ext>
            </a:extLst>
          </p:cNvPr>
          <p:cNvGrpSpPr/>
          <p:nvPr/>
        </p:nvGrpSpPr>
        <p:grpSpPr>
          <a:xfrm>
            <a:off x="4753984" y="1309542"/>
            <a:ext cx="3921633" cy="1901845"/>
            <a:chOff x="6246114" y="2359914"/>
            <a:chExt cx="3729354" cy="295211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2CF19E50-0D3C-64A0-3390-BAF3813968A9}"/>
                </a:ext>
              </a:extLst>
            </p:cNvPr>
            <p:cNvSpPr/>
            <p:nvPr/>
          </p:nvSpPr>
          <p:spPr>
            <a:xfrm>
              <a:off x="6249924" y="2363724"/>
              <a:ext cx="3721735" cy="2944495"/>
            </a:xfrm>
            <a:custGeom>
              <a:avLst/>
              <a:gdLst/>
              <a:ahLst/>
              <a:cxnLst/>
              <a:rect l="l" t="t" r="r" b="b"/>
              <a:pathLst>
                <a:path w="3721734" h="2944495">
                  <a:moveTo>
                    <a:pt x="3437128" y="0"/>
                  </a:moveTo>
                  <a:lnTo>
                    <a:pt x="284479" y="0"/>
                  </a:lnTo>
                  <a:lnTo>
                    <a:pt x="238339" y="3723"/>
                  </a:lnTo>
                  <a:lnTo>
                    <a:pt x="194568" y="14504"/>
                  </a:lnTo>
                  <a:lnTo>
                    <a:pt x="153751" y="31755"/>
                  </a:lnTo>
                  <a:lnTo>
                    <a:pt x="116476" y="54892"/>
                  </a:lnTo>
                  <a:lnTo>
                    <a:pt x="83327" y="83327"/>
                  </a:lnTo>
                  <a:lnTo>
                    <a:pt x="54892" y="116476"/>
                  </a:lnTo>
                  <a:lnTo>
                    <a:pt x="31755" y="153751"/>
                  </a:lnTo>
                  <a:lnTo>
                    <a:pt x="14504" y="194568"/>
                  </a:lnTo>
                  <a:lnTo>
                    <a:pt x="3723" y="238339"/>
                  </a:lnTo>
                  <a:lnTo>
                    <a:pt x="0" y="284479"/>
                  </a:lnTo>
                  <a:lnTo>
                    <a:pt x="0" y="2659888"/>
                  </a:lnTo>
                  <a:lnTo>
                    <a:pt x="3723" y="2706028"/>
                  </a:lnTo>
                  <a:lnTo>
                    <a:pt x="14504" y="2749799"/>
                  </a:lnTo>
                  <a:lnTo>
                    <a:pt x="31755" y="2790616"/>
                  </a:lnTo>
                  <a:lnTo>
                    <a:pt x="54892" y="2827891"/>
                  </a:lnTo>
                  <a:lnTo>
                    <a:pt x="83327" y="2861040"/>
                  </a:lnTo>
                  <a:lnTo>
                    <a:pt x="116476" y="2889475"/>
                  </a:lnTo>
                  <a:lnTo>
                    <a:pt x="153751" y="2912612"/>
                  </a:lnTo>
                  <a:lnTo>
                    <a:pt x="194568" y="2929863"/>
                  </a:lnTo>
                  <a:lnTo>
                    <a:pt x="238339" y="2940644"/>
                  </a:lnTo>
                  <a:lnTo>
                    <a:pt x="284479" y="2944368"/>
                  </a:lnTo>
                  <a:lnTo>
                    <a:pt x="3437128" y="2944368"/>
                  </a:lnTo>
                  <a:lnTo>
                    <a:pt x="3483268" y="2940644"/>
                  </a:lnTo>
                  <a:lnTo>
                    <a:pt x="3527039" y="2929863"/>
                  </a:lnTo>
                  <a:lnTo>
                    <a:pt x="3567856" y="2912612"/>
                  </a:lnTo>
                  <a:lnTo>
                    <a:pt x="3605131" y="2889475"/>
                  </a:lnTo>
                  <a:lnTo>
                    <a:pt x="3638280" y="2861040"/>
                  </a:lnTo>
                  <a:lnTo>
                    <a:pt x="3666715" y="2827891"/>
                  </a:lnTo>
                  <a:lnTo>
                    <a:pt x="3689852" y="2790616"/>
                  </a:lnTo>
                  <a:lnTo>
                    <a:pt x="3707103" y="2749799"/>
                  </a:lnTo>
                  <a:lnTo>
                    <a:pt x="3717884" y="2706028"/>
                  </a:lnTo>
                  <a:lnTo>
                    <a:pt x="3721607" y="2659888"/>
                  </a:lnTo>
                  <a:lnTo>
                    <a:pt x="3721607" y="284479"/>
                  </a:lnTo>
                  <a:lnTo>
                    <a:pt x="3717884" y="238339"/>
                  </a:lnTo>
                  <a:lnTo>
                    <a:pt x="3707103" y="194568"/>
                  </a:lnTo>
                  <a:lnTo>
                    <a:pt x="3689852" y="153751"/>
                  </a:lnTo>
                  <a:lnTo>
                    <a:pt x="3666715" y="116476"/>
                  </a:lnTo>
                  <a:lnTo>
                    <a:pt x="3638280" y="83327"/>
                  </a:lnTo>
                  <a:lnTo>
                    <a:pt x="3605131" y="54892"/>
                  </a:lnTo>
                  <a:lnTo>
                    <a:pt x="3567856" y="31755"/>
                  </a:lnTo>
                  <a:lnTo>
                    <a:pt x="3527039" y="14504"/>
                  </a:lnTo>
                  <a:lnTo>
                    <a:pt x="3483268" y="3723"/>
                  </a:lnTo>
                  <a:lnTo>
                    <a:pt x="3437128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200">
                <a:highlight>
                  <a:srgbClr val="800080"/>
                </a:highlight>
              </a:endParaRPr>
            </a:p>
          </p:txBody>
        </p:sp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B85E77E1-E463-BD9D-226B-31DA3ABA36F1}"/>
                </a:ext>
              </a:extLst>
            </p:cNvPr>
            <p:cNvSpPr/>
            <p:nvPr/>
          </p:nvSpPr>
          <p:spPr>
            <a:xfrm>
              <a:off x="6249924" y="2363724"/>
              <a:ext cx="3721735" cy="2944495"/>
            </a:xfrm>
            <a:custGeom>
              <a:avLst/>
              <a:gdLst/>
              <a:ahLst/>
              <a:cxnLst/>
              <a:rect l="l" t="t" r="r" b="b"/>
              <a:pathLst>
                <a:path w="3721734" h="2944495">
                  <a:moveTo>
                    <a:pt x="0" y="284479"/>
                  </a:moveTo>
                  <a:lnTo>
                    <a:pt x="3723" y="238339"/>
                  </a:lnTo>
                  <a:lnTo>
                    <a:pt x="14504" y="194568"/>
                  </a:lnTo>
                  <a:lnTo>
                    <a:pt x="31755" y="153751"/>
                  </a:lnTo>
                  <a:lnTo>
                    <a:pt x="54892" y="116476"/>
                  </a:lnTo>
                  <a:lnTo>
                    <a:pt x="83327" y="83327"/>
                  </a:lnTo>
                  <a:lnTo>
                    <a:pt x="116476" y="54892"/>
                  </a:lnTo>
                  <a:lnTo>
                    <a:pt x="153751" y="31755"/>
                  </a:lnTo>
                  <a:lnTo>
                    <a:pt x="194568" y="14504"/>
                  </a:lnTo>
                  <a:lnTo>
                    <a:pt x="238339" y="3723"/>
                  </a:lnTo>
                  <a:lnTo>
                    <a:pt x="284479" y="0"/>
                  </a:lnTo>
                  <a:lnTo>
                    <a:pt x="3437128" y="0"/>
                  </a:lnTo>
                  <a:lnTo>
                    <a:pt x="3483268" y="3723"/>
                  </a:lnTo>
                  <a:lnTo>
                    <a:pt x="3527039" y="14504"/>
                  </a:lnTo>
                  <a:lnTo>
                    <a:pt x="3567856" y="31755"/>
                  </a:lnTo>
                  <a:lnTo>
                    <a:pt x="3605131" y="54892"/>
                  </a:lnTo>
                  <a:lnTo>
                    <a:pt x="3638280" y="83327"/>
                  </a:lnTo>
                  <a:lnTo>
                    <a:pt x="3666715" y="116476"/>
                  </a:lnTo>
                  <a:lnTo>
                    <a:pt x="3689852" y="153751"/>
                  </a:lnTo>
                  <a:lnTo>
                    <a:pt x="3707103" y="194568"/>
                  </a:lnTo>
                  <a:lnTo>
                    <a:pt x="3717884" y="238339"/>
                  </a:lnTo>
                  <a:lnTo>
                    <a:pt x="3721607" y="284479"/>
                  </a:lnTo>
                  <a:lnTo>
                    <a:pt x="3721607" y="2659888"/>
                  </a:lnTo>
                  <a:lnTo>
                    <a:pt x="3717884" y="2706028"/>
                  </a:lnTo>
                  <a:lnTo>
                    <a:pt x="3707103" y="2749799"/>
                  </a:lnTo>
                  <a:lnTo>
                    <a:pt x="3689852" y="2790616"/>
                  </a:lnTo>
                  <a:lnTo>
                    <a:pt x="3666715" y="2827891"/>
                  </a:lnTo>
                  <a:lnTo>
                    <a:pt x="3638280" y="2861040"/>
                  </a:lnTo>
                  <a:lnTo>
                    <a:pt x="3605131" y="2889475"/>
                  </a:lnTo>
                  <a:lnTo>
                    <a:pt x="3567856" y="2912612"/>
                  </a:lnTo>
                  <a:lnTo>
                    <a:pt x="3527039" y="2929863"/>
                  </a:lnTo>
                  <a:lnTo>
                    <a:pt x="3483268" y="2940644"/>
                  </a:lnTo>
                  <a:lnTo>
                    <a:pt x="3437128" y="2944368"/>
                  </a:lnTo>
                  <a:lnTo>
                    <a:pt x="284479" y="2944368"/>
                  </a:lnTo>
                  <a:lnTo>
                    <a:pt x="238339" y="2940644"/>
                  </a:lnTo>
                  <a:lnTo>
                    <a:pt x="194568" y="2929863"/>
                  </a:lnTo>
                  <a:lnTo>
                    <a:pt x="153751" y="2912612"/>
                  </a:lnTo>
                  <a:lnTo>
                    <a:pt x="116476" y="2889475"/>
                  </a:lnTo>
                  <a:lnTo>
                    <a:pt x="83327" y="2861040"/>
                  </a:lnTo>
                  <a:lnTo>
                    <a:pt x="54892" y="2827891"/>
                  </a:lnTo>
                  <a:lnTo>
                    <a:pt x="31755" y="2790616"/>
                  </a:lnTo>
                  <a:lnTo>
                    <a:pt x="14504" y="2749799"/>
                  </a:lnTo>
                  <a:lnTo>
                    <a:pt x="3723" y="2706028"/>
                  </a:lnTo>
                  <a:lnTo>
                    <a:pt x="0" y="2659888"/>
                  </a:lnTo>
                  <a:lnTo>
                    <a:pt x="0" y="284479"/>
                  </a:lnTo>
                  <a:close/>
                </a:path>
              </a:pathLst>
            </a:custGeom>
            <a:grpFill/>
            <a:ln w="7620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highlight>
                  <a:srgbClr val="800080"/>
                </a:highlight>
              </a:endParaRPr>
            </a:p>
          </p:txBody>
        </p:sp>
      </p:grpSp>
      <p:sp>
        <p:nvSpPr>
          <p:cNvPr id="15" name="object 8">
            <a:extLst>
              <a:ext uri="{FF2B5EF4-FFF2-40B4-BE49-F238E27FC236}">
                <a16:creationId xmlns:a16="http://schemas.microsoft.com/office/drawing/2014/main" id="{B27F500A-4DF7-192B-C1C5-D9C92FAC1306}"/>
              </a:ext>
            </a:extLst>
          </p:cNvPr>
          <p:cNvSpPr/>
          <p:nvPr/>
        </p:nvSpPr>
        <p:spPr>
          <a:xfrm>
            <a:off x="539077" y="4279783"/>
            <a:ext cx="3913621" cy="1896936"/>
          </a:xfrm>
          <a:custGeom>
            <a:avLst/>
            <a:gdLst/>
            <a:ahLst/>
            <a:cxnLst/>
            <a:rect l="l" t="t" r="r" b="b"/>
            <a:pathLst>
              <a:path w="3721734" h="2944495">
                <a:moveTo>
                  <a:pt x="0" y="284479"/>
                </a:moveTo>
                <a:lnTo>
                  <a:pt x="3723" y="238339"/>
                </a:lnTo>
                <a:lnTo>
                  <a:pt x="14504" y="194568"/>
                </a:lnTo>
                <a:lnTo>
                  <a:pt x="31755" y="153751"/>
                </a:lnTo>
                <a:lnTo>
                  <a:pt x="54892" y="116476"/>
                </a:lnTo>
                <a:lnTo>
                  <a:pt x="83327" y="83327"/>
                </a:lnTo>
                <a:lnTo>
                  <a:pt x="116476" y="54892"/>
                </a:lnTo>
                <a:lnTo>
                  <a:pt x="153751" y="31755"/>
                </a:lnTo>
                <a:lnTo>
                  <a:pt x="194568" y="14504"/>
                </a:lnTo>
                <a:lnTo>
                  <a:pt x="238339" y="3723"/>
                </a:lnTo>
                <a:lnTo>
                  <a:pt x="284479" y="0"/>
                </a:lnTo>
                <a:lnTo>
                  <a:pt x="3437128" y="0"/>
                </a:lnTo>
                <a:lnTo>
                  <a:pt x="3483268" y="3723"/>
                </a:lnTo>
                <a:lnTo>
                  <a:pt x="3527039" y="14504"/>
                </a:lnTo>
                <a:lnTo>
                  <a:pt x="3567856" y="31755"/>
                </a:lnTo>
                <a:lnTo>
                  <a:pt x="3605131" y="54892"/>
                </a:lnTo>
                <a:lnTo>
                  <a:pt x="3638280" y="83327"/>
                </a:lnTo>
                <a:lnTo>
                  <a:pt x="3666715" y="116476"/>
                </a:lnTo>
                <a:lnTo>
                  <a:pt x="3689852" y="153751"/>
                </a:lnTo>
                <a:lnTo>
                  <a:pt x="3707103" y="194568"/>
                </a:lnTo>
                <a:lnTo>
                  <a:pt x="3717884" y="238339"/>
                </a:lnTo>
                <a:lnTo>
                  <a:pt x="3721607" y="284479"/>
                </a:lnTo>
                <a:lnTo>
                  <a:pt x="3721607" y="2659888"/>
                </a:lnTo>
                <a:lnTo>
                  <a:pt x="3717884" y="2706028"/>
                </a:lnTo>
                <a:lnTo>
                  <a:pt x="3707103" y="2749799"/>
                </a:lnTo>
                <a:lnTo>
                  <a:pt x="3689852" y="2790616"/>
                </a:lnTo>
                <a:lnTo>
                  <a:pt x="3666715" y="2827891"/>
                </a:lnTo>
                <a:lnTo>
                  <a:pt x="3638280" y="2861040"/>
                </a:lnTo>
                <a:lnTo>
                  <a:pt x="3605131" y="2889475"/>
                </a:lnTo>
                <a:lnTo>
                  <a:pt x="3567856" y="2912612"/>
                </a:lnTo>
                <a:lnTo>
                  <a:pt x="3527039" y="2929863"/>
                </a:lnTo>
                <a:lnTo>
                  <a:pt x="3483268" y="2940644"/>
                </a:lnTo>
                <a:lnTo>
                  <a:pt x="3437128" y="2944368"/>
                </a:lnTo>
                <a:lnTo>
                  <a:pt x="284479" y="2944368"/>
                </a:lnTo>
                <a:lnTo>
                  <a:pt x="238339" y="2940644"/>
                </a:lnTo>
                <a:lnTo>
                  <a:pt x="194568" y="2929863"/>
                </a:lnTo>
                <a:lnTo>
                  <a:pt x="153751" y="2912612"/>
                </a:lnTo>
                <a:lnTo>
                  <a:pt x="116476" y="2889475"/>
                </a:lnTo>
                <a:lnTo>
                  <a:pt x="83327" y="2861040"/>
                </a:lnTo>
                <a:lnTo>
                  <a:pt x="54892" y="2827891"/>
                </a:lnTo>
                <a:lnTo>
                  <a:pt x="31755" y="2790616"/>
                </a:lnTo>
                <a:lnTo>
                  <a:pt x="14504" y="2749799"/>
                </a:lnTo>
                <a:lnTo>
                  <a:pt x="3723" y="2706028"/>
                </a:lnTo>
                <a:lnTo>
                  <a:pt x="0" y="2659888"/>
                </a:lnTo>
                <a:lnTo>
                  <a:pt x="0" y="28447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7620">
            <a:solidFill>
              <a:srgbClr val="B9CFDD"/>
            </a:solidFill>
          </a:ln>
        </p:spPr>
        <p:txBody>
          <a:bodyPr wrap="square" lIns="0" tIns="0" rIns="0" bIns="0" rtlCol="0"/>
          <a:lstStyle/>
          <a:p>
            <a:endParaRPr sz="1200" dirty="0">
              <a:highlight>
                <a:srgbClr val="800080"/>
              </a:highligh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7A0DF3-6F2E-9009-EA79-40CC13EF60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768" y="1091931"/>
            <a:ext cx="4206725" cy="23370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FC67D5-61C6-59C4-04E4-90608B504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493" y="3986727"/>
            <a:ext cx="4177352" cy="2189992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EECD2F3-7FA9-F53F-B63A-2B58119C3C9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841507" y="1397295"/>
            <a:ext cx="374659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Bengaluru Urban has the highest users (~168M), followed by Pune and Jaipur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urban areas drive maximum platform adoption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5285FB3-FFF2-616E-50CF-CE269F6C9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070" y="4139456"/>
            <a:ext cx="393673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Xiaomi, Samsung, and Vivo lead in total users and transactions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higher usage from mid-range smartphone segments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brands contribute relatively lower transaction volume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92BC622-8969-D6E5-5697-C4F66237C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258" y="0"/>
            <a:ext cx="1352741" cy="100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451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9">
            <a:extLst>
              <a:ext uri="{FF2B5EF4-FFF2-40B4-BE49-F238E27FC236}">
                <a16:creationId xmlns:a16="http://schemas.microsoft.com/office/drawing/2014/main" id="{9D9F8D58-0B71-CEBF-4B1D-7FEC271CA1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0220" y="3513220"/>
            <a:ext cx="2526030" cy="2979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spc="-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IN" sz="3600" spc="-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IN" sz="3600" spc="-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-1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3600" spc="-1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lang="en-IN" sz="3600" spc="-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Telangana leads in transaction value, showing strong 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 dominance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 payments show 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steady growth (2018–2022)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indicating rising adoption.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 are 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 concentrated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 top-performing regions.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 users + value reflect strong 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 engagement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 transactions dominate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with scope to expand merchant payments.</a:t>
            </a:r>
          </a:p>
          <a:p>
            <a:pPr marL="0" indent="0" algn="just"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16A25-EE01-4E90-2A86-1C90BF2F9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258" y="0"/>
            <a:ext cx="1352741" cy="1000303"/>
          </a:xfrm>
          <a:prstGeom prst="rect">
            <a:avLst/>
          </a:prstGeom>
        </p:spPr>
      </p:pic>
      <p:sp>
        <p:nvSpPr>
          <p:cNvPr id="6" name="object 26">
            <a:extLst>
              <a:ext uri="{FF2B5EF4-FFF2-40B4-BE49-F238E27FC236}">
                <a16:creationId xmlns:a16="http://schemas.microsoft.com/office/drawing/2014/main" id="{BDC3E37F-3A06-07FD-9F8F-250B06A1CD53}"/>
              </a:ext>
            </a:extLst>
          </p:cNvPr>
          <p:cNvSpPr txBox="1"/>
          <p:nvPr/>
        </p:nvSpPr>
        <p:spPr>
          <a:xfrm>
            <a:off x="628650" y="3878708"/>
            <a:ext cx="4078105" cy="378549"/>
          </a:xfrm>
          <a:prstGeom prst="rect">
            <a:avLst/>
          </a:prstGeom>
        </p:spPr>
        <p:txBody>
          <a:bodyPr vert="horz" wrap="square" lIns="0" tIns="9128" rIns="0" bIns="0" rtlCol="0">
            <a:spAutoFit/>
          </a:bodyPr>
          <a:lstStyle/>
          <a:p>
            <a:pPr marL="7938">
              <a:spcBef>
                <a:spcPts val="71"/>
              </a:spcBef>
            </a:pPr>
            <a:r>
              <a:rPr sz="2400" b="1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Measurable</a:t>
            </a:r>
            <a:r>
              <a:rPr sz="2400" b="1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z="2400" b="1" spc="-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766C77-A83A-EF98-EEDB-136CBE5C2392}"/>
              </a:ext>
            </a:extLst>
          </p:cNvPr>
          <p:cNvSpPr txBox="1"/>
          <p:nvPr/>
        </p:nvSpPr>
        <p:spPr>
          <a:xfrm>
            <a:off x="628650" y="4383893"/>
            <a:ext cx="5360670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7" indent="-171450" algn="just">
              <a:spcBef>
                <a:spcPts val="281"/>
              </a:spcBef>
              <a:buFont typeface="Arial" panose="020B0604020202020204" pitchFamily="34" charset="0"/>
              <a:buChar char="•"/>
              <a:tabLst>
                <a:tab pos="222250" algn="l"/>
              </a:tabLst>
            </a:pP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</a:t>
            </a:r>
            <a:r>
              <a:rPr lang="en-US" sz="1600" spc="-1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</a:t>
            </a:r>
            <a:r>
              <a:rPr lang="en-US" sz="1600" spc="-22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600" spc="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days</a:t>
            </a: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lang="en-US" sz="1600" spc="22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minutes through</a:t>
            </a:r>
            <a:r>
              <a:rPr lang="en-US" sz="1600" spc="-1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endParaRPr lang="en-US" sz="1600" spc="-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387" indent="-171450" algn="just">
              <a:spcBef>
                <a:spcPts val="281"/>
              </a:spcBef>
              <a:buFont typeface="Arial" panose="020B0604020202020204" pitchFamily="34" charset="0"/>
              <a:buChar char="•"/>
              <a:tabLst>
                <a:tab pos="222250" algn="l"/>
              </a:tabLst>
            </a:pP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Enabled</a:t>
            </a:r>
            <a:r>
              <a:rPr lang="en-US" sz="1600" spc="-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</a:t>
            </a: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z="1600" spc="5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  <a:r>
              <a:rPr lang="en-US" sz="1600" spc="-1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spc="-3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lang="en-US" sz="1600" spc="-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  <a:r>
              <a:rPr lang="en-US" sz="1600" spc="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 </a:t>
            </a:r>
          </a:p>
          <a:p>
            <a:pPr marL="179387" indent="-171450" algn="just">
              <a:spcBef>
                <a:spcPts val="281"/>
              </a:spcBef>
              <a:buFont typeface="Arial" panose="020B0604020202020204" pitchFamily="34" charset="0"/>
              <a:buChar char="•"/>
              <a:tabLst>
                <a:tab pos="222250" algn="l"/>
              </a:tabLst>
            </a:pPr>
            <a:r>
              <a:rPr lang="en-US" sz="16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</a:t>
            </a:r>
            <a:r>
              <a:rPr lang="en-US" sz="1600" spc="-34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₹2.3M</a:t>
            </a:r>
            <a:r>
              <a:rPr lang="en-US" sz="1600" spc="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600" spc="-31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recoverable</a:t>
            </a:r>
            <a:r>
              <a:rPr lang="en-US" sz="1600" spc="-41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failed</a:t>
            </a:r>
            <a:r>
              <a:rPr lang="en-US" sz="1600" spc="-31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en-US" sz="1600" spc="-1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</a:t>
            </a:r>
          </a:p>
          <a:p>
            <a:pPr marL="179387" indent="-171450" algn="just">
              <a:spcBef>
                <a:spcPts val="281"/>
              </a:spcBef>
              <a:buFont typeface="Arial" panose="020B0604020202020204" pitchFamily="34" charset="0"/>
              <a:buChar char="•"/>
              <a:tabLst>
                <a:tab pos="222250" algn="l"/>
              </a:tabLst>
            </a:pP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Supported</a:t>
            </a:r>
            <a:r>
              <a:rPr lang="en-US" sz="1600" spc="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US" sz="1600" spc="28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sz="1600" spc="38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</a:t>
            </a:r>
            <a:r>
              <a:rPr lang="en-US" sz="1600" spc="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1600" spc="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</a:t>
            </a:r>
            <a:r>
              <a:rPr lang="en-US" sz="1600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backed</a:t>
            </a:r>
            <a:r>
              <a:rPr lang="en-US" sz="1600" spc="9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6" dirty="0">
                <a:solidFill>
                  <a:srgbClr val="3846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869" y="3033148"/>
            <a:ext cx="7886700" cy="1325563"/>
          </a:xfrm>
        </p:spPr>
        <p:txBody>
          <a:bodyPr/>
          <a:lstStyle/>
          <a:p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246" y="4202548"/>
            <a:ext cx="7886700" cy="1325563"/>
          </a:xfrm>
        </p:spPr>
        <p:txBody>
          <a:bodyPr>
            <a:normAutofit/>
          </a:bodyPr>
          <a:lstStyle/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growth in digital payments</a:t>
            </a: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adoption in tier-2 cities</a:t>
            </a: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growth potential remains high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BA728E-8B30-17D3-B1E1-CCB13310F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258" y="0"/>
            <a:ext cx="1352741" cy="1000303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FB66060A-3696-24AD-AEA1-F07D3300619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3637" y="2903752"/>
            <a:ext cx="3837111" cy="3520630"/>
          </a:xfrm>
          <a:prstGeom prst="rect">
            <a:avLst/>
          </a:prstGeom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40CDED16-37EB-00CB-5939-1F172936CE47}"/>
              </a:ext>
            </a:extLst>
          </p:cNvPr>
          <p:cNvSpPr txBox="1"/>
          <p:nvPr/>
        </p:nvSpPr>
        <p:spPr>
          <a:xfrm>
            <a:off x="690246" y="1522476"/>
            <a:ext cx="7819323" cy="13812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2900"/>
              </a:lnSpc>
              <a:spcBef>
                <a:spcPts val="715"/>
              </a:spcBef>
            </a:pP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to-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</a:t>
            </a:r>
            <a:r>
              <a:rPr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capabilities,</a:t>
            </a:r>
            <a:r>
              <a:rPr sz="16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deployment.</a:t>
            </a:r>
            <a:r>
              <a:rPr sz="16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r>
              <a:rPr sz="16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showcases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proficiency</a:t>
            </a:r>
            <a:r>
              <a:rPr sz="16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acumen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equally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valued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recruiters</a:t>
            </a:r>
            <a:r>
              <a:rPr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evaluators.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43737C-21B1-DA6C-65C5-B833BB7F3AA1}"/>
              </a:ext>
            </a:extLst>
          </p:cNvPr>
          <p:cNvSpPr txBox="1">
            <a:spLocks/>
          </p:cNvSpPr>
          <p:nvPr/>
        </p:nvSpPr>
        <p:spPr>
          <a:xfrm>
            <a:off x="555492" y="408789"/>
            <a:ext cx="61956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roject Achievement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</TotalTime>
  <Words>664</Words>
  <Application>Microsoft Office PowerPoint</Application>
  <PresentationFormat>On-screen Show (4:3)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PhonePe Pulse Data Visualization and Exploration</vt:lpstr>
      <vt:lpstr>The Digital Payments Revolution in India</vt:lpstr>
      <vt:lpstr>Problem Statement</vt:lpstr>
      <vt:lpstr>Project Objectives</vt:lpstr>
      <vt:lpstr>Tools &amp; Data Preparation</vt:lpstr>
      <vt:lpstr>Data Source</vt:lpstr>
      <vt:lpstr>Dashboard Preview</vt:lpstr>
      <vt:lpstr>KPIs</vt:lpstr>
      <vt:lpstr>Geo Visualization</vt:lpstr>
      <vt:lpstr>PowerPoint Presentation</vt:lpstr>
      <vt:lpstr>PowerPoint Presentation</vt:lpstr>
      <vt:lpstr>Key Insights &amp; Business Value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Binal</dc:creator>
  <cp:keywords/>
  <dc:description>generated using python-pptx</dc:description>
  <cp:lastModifiedBy>Binal Patel</cp:lastModifiedBy>
  <cp:revision>29</cp:revision>
  <dcterms:created xsi:type="dcterms:W3CDTF">2013-01-27T09:14:16Z</dcterms:created>
  <dcterms:modified xsi:type="dcterms:W3CDTF">2026-03-25T13:51:56Z</dcterms:modified>
  <cp:category/>
</cp:coreProperties>
</file>